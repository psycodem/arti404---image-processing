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Gordita" panose="020B0604020202020204" charset="0"/>
      <p:regular r:id="rId21"/>
    </p:embeddedFont>
    <p:embeddedFont>
      <p:font typeface="Gordita Bold" panose="020B0604020202020204" charset="0"/>
      <p:regular r:id="rId22"/>
    </p:embeddedFont>
    <p:embeddedFont>
      <p:font typeface="Gordita Light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F88587-1FC9-41F6-B210-4B7DAA94DEBE}">
          <p14:sldIdLst>
            <p14:sldId id="256"/>
            <p14:sldId id="257"/>
          </p14:sldIdLst>
        </p14:section>
        <p14:section name="Hadi Al-Hajji" id="{0186A9B7-3E39-4797-B7DB-0F7C864A85E9}">
          <p14:sldIdLst>
            <p14:sldId id="258"/>
            <p14:sldId id="259"/>
            <p14:sldId id="260"/>
          </p14:sldIdLst>
        </p14:section>
        <p14:section name="Mahdi Alkhamis" id="{53B1BB12-D1C8-4187-AE4B-970316AC5F6E}">
          <p14:sldIdLst>
            <p14:sldId id="261"/>
            <p14:sldId id="262"/>
            <p14:sldId id="263"/>
            <p14:sldId id="264"/>
            <p14:sldId id="265"/>
          </p14:sldIdLst>
        </p14:section>
        <p14:section name="Abdulsamad Alhassan" id="{FAE4F91A-702B-41DB-A150-751FDFF761EE}">
          <p14:sldIdLst>
            <p14:sldId id="266"/>
            <p14:sldId id="267"/>
            <p14:sldId id="268"/>
            <p14:sldId id="269"/>
          </p14:sldIdLst>
        </p14:section>
        <p14:section name="Omar Al-Subgh" id="{CF246FF2-A363-47F4-813A-1A737F58E3CC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CCC8A-8823-4364-8A40-20EAF36D1DFD}" v="34" dt="2026-06-04T14:00:36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هدي حسين الخميس" userId="fd29884d-fac9-4714-8ca2-43118ab5dfaa" providerId="ADAL" clId="{423A14EF-8D0D-4B23-A94D-FBF9BDDF1A7D}"/>
    <pc:docChg chg="undo custSel modSld addSection modSection">
      <pc:chgData name="مهدي حسين الخميس" userId="fd29884d-fac9-4714-8ca2-43118ab5dfaa" providerId="ADAL" clId="{423A14EF-8D0D-4B23-A94D-FBF9BDDF1A7D}" dt="2026-06-04T14:00:51.301" v="184" actId="255"/>
      <pc:docMkLst>
        <pc:docMk/>
      </pc:docMkLst>
      <pc:sldChg chg="addSp delSp modSp mod modClrScheme chgLayout">
        <pc:chgData name="مهدي حسين الخميس" userId="fd29884d-fac9-4714-8ca2-43118ab5dfaa" providerId="ADAL" clId="{423A14EF-8D0D-4B23-A94D-FBF9BDDF1A7D}" dt="2026-06-04T13:54:21.919" v="94" actId="255"/>
        <pc:sldMkLst>
          <pc:docMk/>
          <pc:sldMk cId="0" sldId="258"/>
        </pc:sldMkLst>
        <pc:spChg chg="mod">
          <ac:chgData name="مهدي حسين الخميس" userId="fd29884d-fac9-4714-8ca2-43118ab5dfaa" providerId="ADAL" clId="{423A14EF-8D0D-4B23-A94D-FBF9BDDF1A7D}" dt="2026-06-04T13:54:21.919" v="94" actId="255"/>
          <ac:spMkLst>
            <pc:docMk/>
            <pc:sldMk cId="0" sldId="258"/>
            <ac:spMk id="10" creationId="{00000000-0000-0000-0000-000000000000}"/>
          </ac:spMkLst>
        </pc:spChg>
        <pc:spChg chg="add del mod ord">
          <ac:chgData name="مهدي حسين الخميس" userId="fd29884d-fac9-4714-8ca2-43118ab5dfaa" providerId="ADAL" clId="{423A14EF-8D0D-4B23-A94D-FBF9BDDF1A7D}" dt="2026-06-04T13:43:57.241" v="3" actId="700"/>
          <ac:spMkLst>
            <pc:docMk/>
            <pc:sldMk cId="0" sldId="258"/>
            <ac:spMk id="12" creationId="{3E6CF9B0-2330-E359-9DDB-378F20DFEEFB}"/>
          </ac:spMkLst>
        </pc:spChg>
        <pc:spChg chg="add del mod ord">
          <ac:chgData name="مهدي حسين الخميس" userId="fd29884d-fac9-4714-8ca2-43118ab5dfaa" providerId="ADAL" clId="{423A14EF-8D0D-4B23-A94D-FBF9BDDF1A7D}" dt="2026-06-04T13:43:57.241" v="3" actId="700"/>
          <ac:spMkLst>
            <pc:docMk/>
            <pc:sldMk cId="0" sldId="258"/>
            <ac:spMk id="13" creationId="{B5A10ADE-DA31-0636-621D-99ADF8AC9156}"/>
          </ac:spMkLst>
        </pc:spChg>
        <pc:spChg chg="add del mod ord">
          <ac:chgData name="مهدي حسين الخميس" userId="fd29884d-fac9-4714-8ca2-43118ab5dfaa" providerId="ADAL" clId="{423A14EF-8D0D-4B23-A94D-FBF9BDDF1A7D}" dt="2026-06-04T13:54:15.117" v="92" actId="478"/>
          <ac:spMkLst>
            <pc:docMk/>
            <pc:sldMk cId="0" sldId="258"/>
            <ac:spMk id="15" creationId="{BA55A327-48FC-D29E-053C-2EBFCBD196A8}"/>
          </ac:spMkLst>
        </pc:spChg>
        <pc:spChg chg="mod ord">
          <ac:chgData name="مهدي حسين الخميس" userId="fd29884d-fac9-4714-8ca2-43118ab5dfaa" providerId="ADAL" clId="{423A14EF-8D0D-4B23-A94D-FBF9BDDF1A7D}" dt="2026-06-04T13:47:57.988" v="19" actId="700"/>
          <ac:spMkLst>
            <pc:docMk/>
            <pc:sldMk cId="0" sldId="258"/>
            <ac:spMk id="18" creationId="{65EFA876-054B-2EE5-1FFE-F67E579682DC}"/>
          </ac:spMkLst>
        </pc:spChg>
        <pc:grpChg chg="mod">
          <ac:chgData name="مهدي حسين الخميس" userId="fd29884d-fac9-4714-8ca2-43118ab5dfaa" providerId="ADAL" clId="{423A14EF-8D0D-4B23-A94D-FBF9BDDF1A7D}" dt="2026-06-04T13:48:49.225" v="29" actId="1076"/>
          <ac:grpSpMkLst>
            <pc:docMk/>
            <pc:sldMk cId="0" sldId="258"/>
            <ac:grpSpMk id="2" creationId="{00000000-0000-0000-0000-000000000000}"/>
          </ac:grpSpMkLst>
        </pc:grpChg>
        <pc:graphicFrameChg chg="add del mod modGraphic">
          <ac:chgData name="مهدي حسين الخميس" userId="fd29884d-fac9-4714-8ca2-43118ab5dfaa" providerId="ADAL" clId="{423A14EF-8D0D-4B23-A94D-FBF9BDDF1A7D}" dt="2026-06-04T13:47:51.855" v="18" actId="478"/>
          <ac:graphicFrameMkLst>
            <pc:docMk/>
            <pc:sldMk cId="0" sldId="258"/>
            <ac:graphicFrameMk id="14" creationId="{D5D88FBF-2BF6-E93E-EF37-42F335A76AED}"/>
          </ac:graphicFrameMkLst>
        </pc:graphicFrameChg>
        <pc:graphicFrameChg chg="add mod">
          <ac:chgData name="مهدي حسين الخميس" userId="fd29884d-fac9-4714-8ca2-43118ab5dfaa" providerId="ADAL" clId="{423A14EF-8D0D-4B23-A94D-FBF9BDDF1A7D}" dt="2026-06-04T13:48:00.366" v="20"/>
          <ac:graphicFrameMkLst>
            <pc:docMk/>
            <pc:sldMk cId="0" sldId="258"/>
            <ac:graphicFrameMk id="16" creationId="{A1E37A56-85DD-CEC4-497C-DFB8A3AE8C78}"/>
          </ac:graphicFrameMkLst>
        </pc:graphicFrameChg>
        <pc:graphicFrameChg chg="add mod">
          <ac:chgData name="مهدي حسين الخميس" userId="fd29884d-fac9-4714-8ca2-43118ab5dfaa" providerId="ADAL" clId="{423A14EF-8D0D-4B23-A94D-FBF9BDDF1A7D}" dt="2026-06-04T13:48:05.136" v="21"/>
          <ac:graphicFrameMkLst>
            <pc:docMk/>
            <pc:sldMk cId="0" sldId="258"/>
            <ac:graphicFrameMk id="17" creationId="{8B4D6066-A62E-5B27-E896-AC43C57502B8}"/>
          </ac:graphicFrameMkLst>
        </pc:graphicFrameChg>
      </pc:sldChg>
      <pc:sldChg chg="addSp delSp modSp mod">
        <pc:chgData name="مهدي حسين الخميس" userId="fd29884d-fac9-4714-8ca2-43118ab5dfaa" providerId="ADAL" clId="{423A14EF-8D0D-4B23-A94D-FBF9BDDF1A7D}" dt="2026-06-04T13:54:44.168" v="102" actId="14100"/>
        <pc:sldMkLst>
          <pc:docMk/>
          <pc:sldMk cId="0" sldId="259"/>
        </pc:sldMkLst>
        <pc:spChg chg="mod">
          <ac:chgData name="مهدي حسين الخميس" userId="fd29884d-fac9-4714-8ca2-43118ab5dfaa" providerId="ADAL" clId="{423A14EF-8D0D-4B23-A94D-FBF9BDDF1A7D}" dt="2026-06-04T13:54:44.168" v="102" actId="14100"/>
          <ac:spMkLst>
            <pc:docMk/>
            <pc:sldMk cId="0" sldId="259"/>
            <ac:spMk id="9" creationId="{00000000-0000-0000-0000-000000000000}"/>
          </ac:spMkLst>
        </pc:spChg>
        <pc:spChg chg="add del mod">
          <ac:chgData name="مهدي حسين الخميس" userId="fd29884d-fac9-4714-8ca2-43118ab5dfaa" providerId="ADAL" clId="{423A14EF-8D0D-4B23-A94D-FBF9BDDF1A7D}" dt="2026-06-04T13:54:30.419" v="97" actId="478"/>
          <ac:spMkLst>
            <pc:docMk/>
            <pc:sldMk cId="0" sldId="259"/>
            <ac:spMk id="11" creationId="{944F2A09-907B-6A5B-B76F-7D99433A0971}"/>
          </ac:spMkLst>
        </pc:spChg>
      </pc:sldChg>
      <pc:sldChg chg="addSp delSp modSp mod">
        <pc:chgData name="مهدي حسين الخميس" userId="fd29884d-fac9-4714-8ca2-43118ab5dfaa" providerId="ADAL" clId="{423A14EF-8D0D-4B23-A94D-FBF9BDDF1A7D}" dt="2026-06-04T13:55:17.607" v="114" actId="255"/>
        <pc:sldMkLst>
          <pc:docMk/>
          <pc:sldMk cId="0" sldId="260"/>
        </pc:sldMkLst>
        <pc:spChg chg="mod">
          <ac:chgData name="مهدي حسين الخميس" userId="fd29884d-fac9-4714-8ca2-43118ab5dfaa" providerId="ADAL" clId="{423A14EF-8D0D-4B23-A94D-FBF9BDDF1A7D}" dt="2026-06-04T13:55:17.607" v="114" actId="255"/>
          <ac:spMkLst>
            <pc:docMk/>
            <pc:sldMk cId="0" sldId="260"/>
            <ac:spMk id="26" creationId="{00000000-0000-0000-0000-000000000000}"/>
          </ac:spMkLst>
        </pc:spChg>
        <pc:spChg chg="add del mod">
          <ac:chgData name="مهدي حسين الخميس" userId="fd29884d-fac9-4714-8ca2-43118ab5dfaa" providerId="ADAL" clId="{423A14EF-8D0D-4B23-A94D-FBF9BDDF1A7D}" dt="2026-06-04T13:54:54.960" v="107" actId="478"/>
          <ac:spMkLst>
            <pc:docMk/>
            <pc:sldMk cId="0" sldId="260"/>
            <ac:spMk id="32" creationId="{A4531CD4-AAD0-622D-D209-E5E21C193E71}"/>
          </ac:spMkLst>
        </pc:spChg>
      </pc:sldChg>
      <pc:sldChg chg="addSp modSp mod">
        <pc:chgData name="مهدي حسين الخميس" userId="fd29884d-fac9-4714-8ca2-43118ab5dfaa" providerId="ADAL" clId="{423A14EF-8D0D-4B23-A94D-FBF9BDDF1A7D}" dt="2026-06-04T13:53:07.800" v="74" actId="255"/>
        <pc:sldMkLst>
          <pc:docMk/>
          <pc:sldMk cId="0" sldId="261"/>
        </pc:sldMkLst>
        <pc:spChg chg="mod">
          <ac:chgData name="مهدي حسين الخميس" userId="fd29884d-fac9-4714-8ca2-43118ab5dfaa" providerId="ADAL" clId="{423A14EF-8D0D-4B23-A94D-FBF9BDDF1A7D}" dt="2026-06-04T13:53:07.800" v="74" actId="255"/>
          <ac:spMkLst>
            <pc:docMk/>
            <pc:sldMk cId="0" sldId="261"/>
            <ac:spMk id="26" creationId="{00000000-0000-0000-0000-000000000000}"/>
          </ac:spMkLst>
        </pc:spChg>
        <pc:spChg chg="add mod">
          <ac:chgData name="مهدي حسين الخميس" userId="fd29884d-fac9-4714-8ca2-43118ab5dfaa" providerId="ADAL" clId="{423A14EF-8D0D-4B23-A94D-FBF9BDDF1A7D}" dt="2026-06-04T13:52:41.183" v="64" actId="21"/>
          <ac:spMkLst>
            <pc:docMk/>
            <pc:sldMk cId="0" sldId="261"/>
            <ac:spMk id="32" creationId="{A079EB80-4B52-933B-FC0C-D4557DFAEDE2}"/>
          </ac:spMkLst>
        </pc:spChg>
        <pc:grpChg chg="mod">
          <ac:chgData name="مهدي حسين الخميس" userId="fd29884d-fac9-4714-8ca2-43118ab5dfaa" providerId="ADAL" clId="{423A14EF-8D0D-4B23-A94D-FBF9BDDF1A7D}" dt="2026-06-04T13:51:03.537" v="49" actId="1076"/>
          <ac:grpSpMkLst>
            <pc:docMk/>
            <pc:sldMk cId="0" sldId="261"/>
            <ac:grpSpMk id="12" creationId="{00000000-0000-0000-0000-000000000000}"/>
          </ac:grpSpMkLst>
        </pc:grpChg>
      </pc:sldChg>
      <pc:sldChg chg="addSp delSp modSp mod">
        <pc:chgData name="مهدي حسين الخميس" userId="fd29884d-fac9-4714-8ca2-43118ab5dfaa" providerId="ADAL" clId="{423A14EF-8D0D-4B23-A94D-FBF9BDDF1A7D}" dt="2026-06-04T13:53:59.142" v="88" actId="20577"/>
        <pc:sldMkLst>
          <pc:docMk/>
          <pc:sldMk cId="0" sldId="262"/>
        </pc:sldMkLst>
        <pc:spChg chg="mod">
          <ac:chgData name="مهدي حسين الخميس" userId="fd29884d-fac9-4714-8ca2-43118ab5dfaa" providerId="ADAL" clId="{423A14EF-8D0D-4B23-A94D-FBF9BDDF1A7D}" dt="2026-06-04T13:53:59.142" v="88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مهدي حسين الخميس" userId="fd29884d-fac9-4714-8ca2-43118ab5dfaa" providerId="ADAL" clId="{423A14EF-8D0D-4B23-A94D-FBF9BDDF1A7D}" dt="2026-06-04T13:53:53.185" v="87" actId="20577"/>
          <ac:spMkLst>
            <pc:docMk/>
            <pc:sldMk cId="0" sldId="262"/>
            <ac:spMk id="11" creationId="{00000000-0000-0000-0000-000000000000}"/>
          </ac:spMkLst>
        </pc:spChg>
        <pc:spChg chg="add del">
          <ac:chgData name="مهدي حسين الخميس" userId="fd29884d-fac9-4714-8ca2-43118ab5dfaa" providerId="ADAL" clId="{423A14EF-8D0D-4B23-A94D-FBF9BDDF1A7D}" dt="2026-06-04T13:51:24.448" v="52" actId="22"/>
          <ac:spMkLst>
            <pc:docMk/>
            <pc:sldMk cId="0" sldId="262"/>
            <ac:spMk id="17" creationId="{97A54284-F5CE-0A67-B18A-5783E5E63181}"/>
          </ac:spMkLst>
        </pc:spChg>
        <pc:spChg chg="add del mod">
          <ac:chgData name="مهدي حسين الخميس" userId="fd29884d-fac9-4714-8ca2-43118ab5dfaa" providerId="ADAL" clId="{423A14EF-8D0D-4B23-A94D-FBF9BDDF1A7D}" dt="2026-06-04T13:53:41.230" v="83" actId="478"/>
          <ac:spMkLst>
            <pc:docMk/>
            <pc:sldMk cId="0" sldId="262"/>
            <ac:spMk id="18" creationId="{A07769A5-596E-4150-8487-33C3217B1B08}"/>
          </ac:spMkLst>
        </pc:spChg>
      </pc:sldChg>
      <pc:sldChg chg="addSp modSp mod">
        <pc:chgData name="مهدي حسين الخميس" userId="fd29884d-fac9-4714-8ca2-43118ab5dfaa" providerId="ADAL" clId="{423A14EF-8D0D-4B23-A94D-FBF9BDDF1A7D}" dt="2026-06-04T13:53:29.071" v="81" actId="255"/>
        <pc:sldMkLst>
          <pc:docMk/>
          <pc:sldMk cId="0" sldId="263"/>
        </pc:sldMkLst>
        <pc:spChg chg="mod">
          <ac:chgData name="مهدي حسين الخميس" userId="fd29884d-fac9-4714-8ca2-43118ab5dfaa" providerId="ADAL" clId="{423A14EF-8D0D-4B23-A94D-FBF9BDDF1A7D}" dt="2026-06-04T13:53:29.071" v="81" actId="255"/>
          <ac:spMkLst>
            <pc:docMk/>
            <pc:sldMk cId="0" sldId="263"/>
            <ac:spMk id="11" creationId="{00000000-0000-0000-0000-000000000000}"/>
          </ac:spMkLst>
        </pc:spChg>
        <pc:spChg chg="add mod">
          <ac:chgData name="مهدي حسين الخميس" userId="fd29884d-fac9-4714-8ca2-43118ab5dfaa" providerId="ADAL" clId="{423A14EF-8D0D-4B23-A94D-FBF9BDDF1A7D}" dt="2026-06-04T13:53:13.787" v="75" actId="21"/>
          <ac:spMkLst>
            <pc:docMk/>
            <pc:sldMk cId="0" sldId="263"/>
            <ac:spMk id="14" creationId="{1B545563-0D41-8DBD-8BF9-C608C67AB6BA}"/>
          </ac:spMkLst>
        </pc:spChg>
      </pc:sldChg>
      <pc:sldChg chg="modSp mod">
        <pc:chgData name="مهدي حسين الخميس" userId="fd29884d-fac9-4714-8ca2-43118ab5dfaa" providerId="ADAL" clId="{423A14EF-8D0D-4B23-A94D-FBF9BDDF1A7D}" dt="2026-06-04T13:55:41.339" v="117" actId="255"/>
        <pc:sldMkLst>
          <pc:docMk/>
          <pc:sldMk cId="0" sldId="264"/>
        </pc:sldMkLst>
        <pc:spChg chg="mod">
          <ac:chgData name="مهدي حسين الخميس" userId="fd29884d-fac9-4714-8ca2-43118ab5dfaa" providerId="ADAL" clId="{423A14EF-8D0D-4B23-A94D-FBF9BDDF1A7D}" dt="2026-06-04T13:55:41.339" v="117" actId="255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مهدي حسين الخميس" userId="fd29884d-fac9-4714-8ca2-43118ab5dfaa" providerId="ADAL" clId="{423A14EF-8D0D-4B23-A94D-FBF9BDDF1A7D}" dt="2026-06-04T13:55:50.564" v="119" actId="255"/>
        <pc:sldMkLst>
          <pc:docMk/>
          <pc:sldMk cId="0" sldId="265"/>
        </pc:sldMkLst>
        <pc:spChg chg="mod">
          <ac:chgData name="مهدي حسين الخميس" userId="fd29884d-fac9-4714-8ca2-43118ab5dfaa" providerId="ADAL" clId="{423A14EF-8D0D-4B23-A94D-FBF9BDDF1A7D}" dt="2026-06-04T13:55:50.564" v="119" actId="255"/>
          <ac:spMkLst>
            <pc:docMk/>
            <pc:sldMk cId="0" sldId="265"/>
            <ac:spMk id="9" creationId="{00000000-0000-0000-0000-000000000000}"/>
          </ac:spMkLst>
        </pc:spChg>
      </pc:sldChg>
      <pc:sldChg chg="modSp mod">
        <pc:chgData name="مهدي حسين الخميس" userId="fd29884d-fac9-4714-8ca2-43118ab5dfaa" providerId="ADAL" clId="{423A14EF-8D0D-4B23-A94D-FBF9BDDF1A7D}" dt="2026-06-04T13:57:27.038" v="147" actId="20577"/>
        <pc:sldMkLst>
          <pc:docMk/>
          <pc:sldMk cId="0" sldId="266"/>
        </pc:sldMkLst>
        <pc:spChg chg="mod">
          <ac:chgData name="مهدي حسين الخميس" userId="fd29884d-fac9-4714-8ca2-43118ab5dfaa" providerId="ADAL" clId="{423A14EF-8D0D-4B23-A94D-FBF9BDDF1A7D}" dt="2026-06-04T13:57:27.038" v="147" actId="20577"/>
          <ac:spMkLst>
            <pc:docMk/>
            <pc:sldMk cId="0" sldId="266"/>
            <ac:spMk id="12" creationId="{00000000-0000-0000-0000-000000000000}"/>
          </ac:spMkLst>
        </pc:spChg>
      </pc:sldChg>
      <pc:sldChg chg="modSp mod">
        <pc:chgData name="مهدي حسين الخميس" userId="fd29884d-fac9-4714-8ca2-43118ab5dfaa" providerId="ADAL" clId="{423A14EF-8D0D-4B23-A94D-FBF9BDDF1A7D}" dt="2026-06-04T13:58:19.190" v="158" actId="1076"/>
        <pc:sldMkLst>
          <pc:docMk/>
          <pc:sldMk cId="0" sldId="267"/>
        </pc:sldMkLst>
        <pc:spChg chg="mod">
          <ac:chgData name="مهدي حسين الخميس" userId="fd29884d-fac9-4714-8ca2-43118ab5dfaa" providerId="ADAL" clId="{423A14EF-8D0D-4B23-A94D-FBF9BDDF1A7D}" dt="2026-06-04T13:58:19.190" v="158" actId="1076"/>
          <ac:spMkLst>
            <pc:docMk/>
            <pc:sldMk cId="0" sldId="267"/>
            <ac:spMk id="10" creationId="{00000000-0000-0000-0000-000000000000}"/>
          </ac:spMkLst>
        </pc:spChg>
        <pc:grpChg chg="mod">
          <ac:chgData name="مهدي حسين الخميس" userId="fd29884d-fac9-4714-8ca2-43118ab5dfaa" providerId="ADAL" clId="{423A14EF-8D0D-4B23-A94D-FBF9BDDF1A7D}" dt="2026-06-04T13:58:13.452" v="157" actId="1076"/>
          <ac:grpSpMkLst>
            <pc:docMk/>
            <pc:sldMk cId="0" sldId="267"/>
            <ac:grpSpMk id="3" creationId="{00000000-0000-0000-0000-000000000000}"/>
          </ac:grpSpMkLst>
        </pc:grpChg>
      </pc:sldChg>
      <pc:sldChg chg="addSp delSp modSp mod">
        <pc:chgData name="مهدي حسين الخميس" userId="fd29884d-fac9-4714-8ca2-43118ab5dfaa" providerId="ADAL" clId="{423A14EF-8D0D-4B23-A94D-FBF9BDDF1A7D}" dt="2026-06-04T13:58:29.822" v="160"/>
        <pc:sldMkLst>
          <pc:docMk/>
          <pc:sldMk cId="0" sldId="268"/>
        </pc:sldMkLst>
        <pc:spChg chg="del">
          <ac:chgData name="مهدي حسين الخميس" userId="fd29884d-fac9-4714-8ca2-43118ab5dfaa" providerId="ADAL" clId="{423A14EF-8D0D-4B23-A94D-FBF9BDDF1A7D}" dt="2026-06-04T13:58:29.471" v="159" actId="478"/>
          <ac:spMkLst>
            <pc:docMk/>
            <pc:sldMk cId="0" sldId="268"/>
            <ac:spMk id="11" creationId="{00000000-0000-0000-0000-000000000000}"/>
          </ac:spMkLst>
        </pc:spChg>
        <pc:spChg chg="add mod">
          <ac:chgData name="مهدي حسين الخميس" userId="fd29884d-fac9-4714-8ca2-43118ab5dfaa" providerId="ADAL" clId="{423A14EF-8D0D-4B23-A94D-FBF9BDDF1A7D}" dt="2026-06-04T13:58:29.822" v="160"/>
          <ac:spMkLst>
            <pc:docMk/>
            <pc:sldMk cId="0" sldId="268"/>
            <ac:spMk id="13" creationId="{9DE2748A-490A-118E-8AAA-D59A0B5AF762}"/>
          </ac:spMkLst>
        </pc:spChg>
      </pc:sldChg>
      <pc:sldChg chg="addSp delSp modSp mod">
        <pc:chgData name="مهدي حسين الخميس" userId="fd29884d-fac9-4714-8ca2-43118ab5dfaa" providerId="ADAL" clId="{423A14EF-8D0D-4B23-A94D-FBF9BDDF1A7D}" dt="2026-06-04T13:58:52.067" v="164" actId="1076"/>
        <pc:sldMkLst>
          <pc:docMk/>
          <pc:sldMk cId="0" sldId="269"/>
        </pc:sldMkLst>
        <pc:spChg chg="del mod">
          <ac:chgData name="مهدي حسين الخميس" userId="fd29884d-fac9-4714-8ca2-43118ab5dfaa" providerId="ADAL" clId="{423A14EF-8D0D-4B23-A94D-FBF9BDDF1A7D}" dt="2026-06-04T13:58:45.581" v="162" actId="478"/>
          <ac:spMkLst>
            <pc:docMk/>
            <pc:sldMk cId="0" sldId="269"/>
            <ac:spMk id="11" creationId="{00000000-0000-0000-0000-000000000000}"/>
          </ac:spMkLst>
        </pc:spChg>
        <pc:spChg chg="add mod">
          <ac:chgData name="مهدي حسين الخميس" userId="fd29884d-fac9-4714-8ca2-43118ab5dfaa" providerId="ADAL" clId="{423A14EF-8D0D-4B23-A94D-FBF9BDDF1A7D}" dt="2026-06-04T13:58:52.067" v="164" actId="1076"/>
          <ac:spMkLst>
            <pc:docMk/>
            <pc:sldMk cId="0" sldId="269"/>
            <ac:spMk id="13" creationId="{60CB6484-F879-7A62-F605-0D6DD46283D0}"/>
          </ac:spMkLst>
        </pc:spChg>
      </pc:sldChg>
      <pc:sldChg chg="modSp mod">
        <pc:chgData name="مهدي حسين الخميس" userId="fd29884d-fac9-4714-8ca2-43118ab5dfaa" providerId="ADAL" clId="{423A14EF-8D0D-4B23-A94D-FBF9BDDF1A7D}" dt="2026-06-04T14:00:06.179" v="174" actId="1076"/>
        <pc:sldMkLst>
          <pc:docMk/>
          <pc:sldMk cId="0" sldId="270"/>
        </pc:sldMkLst>
        <pc:spChg chg="mod">
          <ac:chgData name="مهدي حسين الخميس" userId="fd29884d-fac9-4714-8ca2-43118ab5dfaa" providerId="ADAL" clId="{423A14EF-8D0D-4B23-A94D-FBF9BDDF1A7D}" dt="2026-06-04T14:00:06.179" v="174" actId="1076"/>
          <ac:spMkLst>
            <pc:docMk/>
            <pc:sldMk cId="0" sldId="270"/>
            <ac:spMk id="10" creationId="{00000000-0000-0000-0000-000000000000}"/>
          </ac:spMkLst>
        </pc:spChg>
      </pc:sldChg>
      <pc:sldChg chg="addSp delSp modSp mod">
        <pc:chgData name="مهدي حسين الخميس" userId="fd29884d-fac9-4714-8ca2-43118ab5dfaa" providerId="ADAL" clId="{423A14EF-8D0D-4B23-A94D-FBF9BDDF1A7D}" dt="2026-06-04T14:00:24.475" v="178"/>
        <pc:sldMkLst>
          <pc:docMk/>
          <pc:sldMk cId="0" sldId="271"/>
        </pc:sldMkLst>
        <pc:spChg chg="del mod">
          <ac:chgData name="مهدي حسين الخميس" userId="fd29884d-fac9-4714-8ca2-43118ab5dfaa" providerId="ADAL" clId="{423A14EF-8D0D-4B23-A94D-FBF9BDDF1A7D}" dt="2026-06-04T14:00:23.791" v="177" actId="478"/>
          <ac:spMkLst>
            <pc:docMk/>
            <pc:sldMk cId="0" sldId="271"/>
            <ac:spMk id="11" creationId="{00000000-0000-0000-0000-000000000000}"/>
          </ac:spMkLst>
        </pc:spChg>
        <pc:spChg chg="add mod">
          <ac:chgData name="مهدي حسين الخميس" userId="fd29884d-fac9-4714-8ca2-43118ab5dfaa" providerId="ADAL" clId="{423A14EF-8D0D-4B23-A94D-FBF9BDDF1A7D}" dt="2026-06-04T14:00:24.475" v="178"/>
          <ac:spMkLst>
            <pc:docMk/>
            <pc:sldMk cId="0" sldId="271"/>
            <ac:spMk id="14" creationId="{0F94FC85-C528-E4D1-1FE9-F70971114371}"/>
          </ac:spMkLst>
        </pc:spChg>
      </pc:sldChg>
      <pc:sldChg chg="modSp mod">
        <pc:chgData name="مهدي حسين الخميس" userId="fd29884d-fac9-4714-8ca2-43118ab5dfaa" providerId="ADAL" clId="{423A14EF-8D0D-4B23-A94D-FBF9BDDF1A7D}" dt="2026-06-04T14:00:51.301" v="184" actId="255"/>
        <pc:sldMkLst>
          <pc:docMk/>
          <pc:sldMk cId="0" sldId="272"/>
        </pc:sldMkLst>
        <pc:spChg chg="mod">
          <ac:chgData name="مهدي حسين الخميس" userId="fd29884d-fac9-4714-8ca2-43118ab5dfaa" providerId="ADAL" clId="{423A14EF-8D0D-4B23-A94D-FBF9BDDF1A7D}" dt="2026-06-04T14:00:51.301" v="184" actId="255"/>
          <ac:spMkLst>
            <pc:docMk/>
            <pc:sldMk cId="0" sldId="27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CEF3609A-FD18-435B-B732-46C0348A4B5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GB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C95F71BB-ADC8-473C-9E23-7B76E788B8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61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9333-0A1B-414B-BF1D-B56745E1D206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77CD4-E57C-4EAB-8AF3-0DCF36F1F103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5554-41FC-4EA6-829F-96A13E8D7F86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6205E-A821-4B15-9B2E-D504A8D3242E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D15D-506D-46A7-B1CE-B9E8D59622F1}" type="datetime1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90B-0BCE-4D45-95BD-3998E49CD8F9}" type="datetime1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D8C4-D1BC-448D-A5AC-866516D5FDEB}" type="datetime1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96CC-67D8-48B3-BD9A-9962D39BB3BA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AD8D-3D82-4A4D-8B42-19E49C19C491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2F12-2C90-4A2B-9418-4634E28A3CD4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0BC3-C19F-47CE-AD9E-5EA5D8A5EE66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E8561-03EC-49D9-AEC1-44FDEDE70063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tm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kaggle.com/datasets/goutham1208/multi-noises-for-image-denoising?select=dataset" TargetMode="External"/><Relationship Id="rId4" Type="http://schemas.openxmlformats.org/officeDocument/2006/relationships/hyperlink" Target="https://www.kaggle.com/datasets/balraj98/berkeley-segmentation-dataset-500-bsds500/data?select=ground_truth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2.png"/><Relationship Id="rId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520454"/>
            <a:ext cx="18288000" cy="2766546"/>
            <a:chOff x="0" y="0"/>
            <a:chExt cx="4816593" cy="7286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728638"/>
            </a:xfrm>
            <a:custGeom>
              <a:avLst/>
              <a:gdLst/>
              <a:ahLst/>
              <a:cxnLst/>
              <a:rect l="l" t="t" r="r" b="b"/>
              <a:pathLst>
                <a:path w="4816592" h="728638">
                  <a:moveTo>
                    <a:pt x="0" y="0"/>
                  </a:moveTo>
                  <a:lnTo>
                    <a:pt x="4816592" y="0"/>
                  </a:lnTo>
                  <a:lnTo>
                    <a:pt x="4816592" y="728638"/>
                  </a:lnTo>
                  <a:lnTo>
                    <a:pt x="0" y="728638"/>
                  </a:ln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816593" cy="747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22374" y="4866540"/>
            <a:ext cx="3931252" cy="6635024"/>
          </a:xfrm>
          <a:custGeom>
            <a:avLst/>
            <a:gdLst/>
            <a:ahLst/>
            <a:cxnLst/>
            <a:rect l="l" t="t" r="r" b="b"/>
            <a:pathLst>
              <a:path w="3931252" h="6635024">
                <a:moveTo>
                  <a:pt x="0" y="0"/>
                </a:moveTo>
                <a:lnTo>
                  <a:pt x="3931252" y="0"/>
                </a:lnTo>
                <a:lnTo>
                  <a:pt x="3931252" y="6635024"/>
                </a:lnTo>
                <a:lnTo>
                  <a:pt x="0" y="6635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Freeform 6"/>
          <p:cNvSpPr/>
          <p:nvPr/>
        </p:nvSpPr>
        <p:spPr>
          <a:xfrm rot="-10800000" flipV="1">
            <a:off x="-1967251" y="4866540"/>
            <a:ext cx="3931252" cy="6635024"/>
          </a:xfrm>
          <a:custGeom>
            <a:avLst/>
            <a:gdLst/>
            <a:ahLst/>
            <a:cxnLst/>
            <a:rect l="l" t="t" r="r" b="b"/>
            <a:pathLst>
              <a:path w="3931252" h="6635024">
                <a:moveTo>
                  <a:pt x="0" y="6635024"/>
                </a:moveTo>
                <a:lnTo>
                  <a:pt x="3931252" y="6635024"/>
                </a:lnTo>
                <a:lnTo>
                  <a:pt x="3931252" y="0"/>
                </a:lnTo>
                <a:lnTo>
                  <a:pt x="0" y="0"/>
                </a:lnTo>
                <a:lnTo>
                  <a:pt x="0" y="663502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028700" y="1028700"/>
            <a:ext cx="1119188" cy="1959979"/>
          </a:xfrm>
          <a:custGeom>
            <a:avLst/>
            <a:gdLst/>
            <a:ahLst/>
            <a:cxnLst/>
            <a:rect l="l" t="t" r="r" b="b"/>
            <a:pathLst>
              <a:path w="1119188" h="1959979">
                <a:moveTo>
                  <a:pt x="0" y="0"/>
                </a:moveTo>
                <a:lnTo>
                  <a:pt x="1119188" y="0"/>
                </a:lnTo>
                <a:lnTo>
                  <a:pt x="1119188" y="1959979"/>
                </a:lnTo>
                <a:lnTo>
                  <a:pt x="0" y="1959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924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6699706" y="1028700"/>
            <a:ext cx="1119188" cy="1959979"/>
          </a:xfrm>
          <a:custGeom>
            <a:avLst/>
            <a:gdLst/>
            <a:ahLst/>
            <a:cxnLst/>
            <a:rect l="l" t="t" r="r" b="b"/>
            <a:pathLst>
              <a:path w="1119188" h="1959979">
                <a:moveTo>
                  <a:pt x="0" y="0"/>
                </a:moveTo>
                <a:lnTo>
                  <a:pt x="1119188" y="0"/>
                </a:lnTo>
                <a:lnTo>
                  <a:pt x="1119188" y="1959979"/>
                </a:lnTo>
                <a:lnTo>
                  <a:pt x="0" y="1959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924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2147888" y="2320191"/>
            <a:ext cx="14551818" cy="468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80"/>
              </a:lnSpc>
            </a:pPr>
            <a:r>
              <a:rPr lang="en-US" sz="8000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LIGHTWEIGHT ATTENTIVE RESIDUAL U-NET </a:t>
            </a:r>
          </a:p>
          <a:p>
            <a:pPr algn="ctr">
              <a:lnSpc>
                <a:spcPts val="9280"/>
              </a:lnSpc>
            </a:pPr>
            <a:r>
              <a:rPr lang="en-US" sz="8000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FOR IMAGE DENOISING </a:t>
            </a:r>
          </a:p>
          <a:p>
            <a:pPr algn="ctr">
              <a:lnSpc>
                <a:spcPts val="9280"/>
              </a:lnSpc>
            </a:pPr>
            <a:endParaRPr lang="en-US" sz="8000" b="1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62627" y="6669306"/>
            <a:ext cx="712233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LAR-U-Net model for Image Denoising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97389" y="1586415"/>
            <a:ext cx="629322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Image Processing ( ARTI 404 )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90561" y="8495030"/>
            <a:ext cx="6866472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43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Advisor: Mohammad Aftab Alam Khan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43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University: Imam Abdulrahman Bin Faisal University</a:t>
            </a:r>
          </a:p>
        </p:txBody>
      </p:sp>
      <p:sp>
        <p:nvSpPr>
          <p:cNvPr id="19" name="عنصر نائب لرقم الشريحة 18">
            <a:extLst>
              <a:ext uri="{FF2B5EF4-FFF2-40B4-BE49-F238E27FC236}">
                <a16:creationId xmlns:a16="http://schemas.microsoft.com/office/drawing/2014/main" id="{08D7D4A5-AFB0-71B5-621C-95B26C03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9867900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</a:t>
            </a:fld>
            <a:endParaRPr 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72354" y="-872368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840973" y="256831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6847864" y="3243695"/>
            <a:ext cx="12902440" cy="7863622"/>
            <a:chOff x="0" y="0"/>
            <a:chExt cx="3398173" cy="20710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98174" cy="2071077"/>
            </a:xfrm>
            <a:custGeom>
              <a:avLst/>
              <a:gdLst/>
              <a:ahLst/>
              <a:cxnLst/>
              <a:rect l="l" t="t" r="r" b="b"/>
              <a:pathLst>
                <a:path w="3398174" h="2071077">
                  <a:moveTo>
                    <a:pt x="60004" y="0"/>
                  </a:moveTo>
                  <a:lnTo>
                    <a:pt x="3338170" y="0"/>
                  </a:lnTo>
                  <a:cubicBezTo>
                    <a:pt x="3354084" y="0"/>
                    <a:pt x="3369346" y="6322"/>
                    <a:pt x="3380599" y="17575"/>
                  </a:cubicBezTo>
                  <a:cubicBezTo>
                    <a:pt x="3391852" y="28827"/>
                    <a:pt x="3398174" y="44090"/>
                    <a:pt x="3398174" y="60004"/>
                  </a:cubicBezTo>
                  <a:lnTo>
                    <a:pt x="3398174" y="2011074"/>
                  </a:lnTo>
                  <a:cubicBezTo>
                    <a:pt x="3398174" y="2044213"/>
                    <a:pt x="3371309" y="2071077"/>
                    <a:pt x="3338170" y="2071077"/>
                  </a:cubicBezTo>
                  <a:lnTo>
                    <a:pt x="60004" y="2071077"/>
                  </a:lnTo>
                  <a:cubicBezTo>
                    <a:pt x="44090" y="2071077"/>
                    <a:pt x="28827" y="2064756"/>
                    <a:pt x="17575" y="2053503"/>
                  </a:cubicBezTo>
                  <a:cubicBezTo>
                    <a:pt x="6322" y="2042250"/>
                    <a:pt x="0" y="2026988"/>
                    <a:pt x="0" y="2011074"/>
                  </a:cubicBezTo>
                  <a:lnTo>
                    <a:pt x="0" y="60004"/>
                  </a:lnTo>
                  <a:cubicBezTo>
                    <a:pt x="0" y="26864"/>
                    <a:pt x="26864" y="0"/>
                    <a:pt x="60004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398173" cy="2090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268131" y="9541258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-5400000">
            <a:off x="14703167" y="3359826"/>
            <a:ext cx="5112266" cy="450015"/>
          </a:xfrm>
          <a:custGeom>
            <a:avLst/>
            <a:gdLst/>
            <a:ahLst/>
            <a:cxnLst/>
            <a:rect l="l" t="t" r="r" b="b"/>
            <a:pathLst>
              <a:path w="5112266" h="450015">
                <a:moveTo>
                  <a:pt x="0" y="0"/>
                </a:moveTo>
                <a:lnTo>
                  <a:pt x="5112266" y="0"/>
                </a:lnTo>
                <a:lnTo>
                  <a:pt x="5112266" y="450014"/>
                </a:lnTo>
                <a:lnTo>
                  <a:pt x="0" y="45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0537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0" y="3384598"/>
            <a:ext cx="4157566" cy="400470"/>
          </a:xfrm>
          <a:custGeom>
            <a:avLst/>
            <a:gdLst/>
            <a:ahLst/>
            <a:cxnLst/>
            <a:rect l="l" t="t" r="r" b="b"/>
            <a:pathLst>
              <a:path w="4157566" h="400470">
                <a:moveTo>
                  <a:pt x="0" y="0"/>
                </a:moveTo>
                <a:lnTo>
                  <a:pt x="4157566" y="0"/>
                </a:lnTo>
                <a:lnTo>
                  <a:pt x="4157566" y="400470"/>
                </a:lnTo>
                <a:lnTo>
                  <a:pt x="0" y="400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81878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7751385" y="4054923"/>
            <a:ext cx="7779368" cy="427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4940"/>
              </a:lnSpc>
              <a:buAutoNum type="arabicPeriod"/>
            </a:pPr>
            <a:r>
              <a:rPr lang="en-US" sz="2699" dirty="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Introduction</a:t>
            </a:r>
          </a:p>
          <a:p>
            <a:pPr marL="582925" lvl="1" indent="-291463" algn="l">
              <a:lnSpc>
                <a:spcPts val="4940"/>
              </a:lnSpc>
              <a:buAutoNum type="arabicPeriod"/>
            </a:pPr>
            <a:r>
              <a:rPr lang="en-US" sz="2699" dirty="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Research Objectives</a:t>
            </a:r>
          </a:p>
          <a:p>
            <a:pPr marL="582925" lvl="1" indent="-291463" algn="l">
              <a:lnSpc>
                <a:spcPts val="4940"/>
              </a:lnSpc>
              <a:buAutoNum type="arabicPeriod"/>
            </a:pPr>
            <a:r>
              <a:rPr lang="en-US" sz="2699" dirty="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Literature Review</a:t>
            </a:r>
          </a:p>
          <a:p>
            <a:pPr marL="582925" lvl="1" indent="-291463" algn="l">
              <a:lnSpc>
                <a:spcPts val="4940"/>
              </a:lnSpc>
              <a:buAutoNum type="arabicPeriod"/>
            </a:pPr>
            <a:r>
              <a:rPr lang="en-US" sz="2699" dirty="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Methodology (Model Proposed)</a:t>
            </a:r>
          </a:p>
          <a:p>
            <a:pPr marL="582925" lvl="1" indent="-291463" algn="l">
              <a:lnSpc>
                <a:spcPts val="4940"/>
              </a:lnSpc>
              <a:buAutoNum type="arabicPeriod"/>
            </a:pPr>
            <a:r>
              <a:rPr lang="en-US" sz="2699" dirty="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Data Acquisition and Preprocessing</a:t>
            </a:r>
          </a:p>
          <a:p>
            <a:pPr marL="582925" lvl="1" indent="-291463" algn="l">
              <a:lnSpc>
                <a:spcPts val="4940"/>
              </a:lnSpc>
              <a:buAutoNum type="arabicPeriod"/>
            </a:pPr>
            <a:r>
              <a:rPr lang="en-US" sz="2699" dirty="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Evaluation and Analysis</a:t>
            </a:r>
          </a:p>
          <a:p>
            <a:pPr marL="582925" lvl="1" indent="-291463" algn="l">
              <a:lnSpc>
                <a:spcPts val="4940"/>
              </a:lnSpc>
              <a:buAutoNum type="arabicPeriod"/>
            </a:pPr>
            <a:r>
              <a:rPr lang="en-US" sz="2699" dirty="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Conclusion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2099" y="1690226"/>
            <a:ext cx="8974225" cy="1320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38"/>
              </a:lnSpc>
              <a:spcBef>
                <a:spcPct val="0"/>
              </a:spcBef>
            </a:pPr>
            <a:r>
              <a:rPr lang="en-US" sz="8846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Overview</a:t>
            </a:r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643DD4F0-F248-4578-1C6D-8948D6399E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17" y="4981832"/>
            <a:ext cx="6033013" cy="1832764"/>
          </a:xfrm>
          <a:prstGeom prst="rect">
            <a:avLst/>
          </a:prstGeom>
        </p:spPr>
      </p:pic>
      <p:sp>
        <p:nvSpPr>
          <p:cNvPr id="21" name="عنصر نائب للتذييل 20">
            <a:extLst>
              <a:ext uri="{FF2B5EF4-FFF2-40B4-BE49-F238E27FC236}">
                <a16:creationId xmlns:a16="http://schemas.microsoft.com/office/drawing/2014/main" id="{3E70458B-2485-98C0-0F49-F6A07C19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854" y="9880902"/>
            <a:ext cx="28956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52309" y="-1365153"/>
            <a:ext cx="18984835" cy="4866452"/>
            <a:chOff x="0" y="0"/>
            <a:chExt cx="5000121" cy="1281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0121" cy="1281699"/>
            </a:xfrm>
            <a:custGeom>
              <a:avLst/>
              <a:gdLst/>
              <a:ahLst/>
              <a:cxnLst/>
              <a:rect l="l" t="t" r="r" b="b"/>
              <a:pathLst>
                <a:path w="5000121" h="1281699">
                  <a:moveTo>
                    <a:pt x="40779" y="0"/>
                  </a:moveTo>
                  <a:lnTo>
                    <a:pt x="4959342" y="0"/>
                  </a:lnTo>
                  <a:cubicBezTo>
                    <a:pt x="4970157" y="0"/>
                    <a:pt x="4980529" y="4296"/>
                    <a:pt x="4988177" y="11944"/>
                  </a:cubicBezTo>
                  <a:cubicBezTo>
                    <a:pt x="4995825" y="19592"/>
                    <a:pt x="5000121" y="29964"/>
                    <a:pt x="5000121" y="40779"/>
                  </a:cubicBezTo>
                  <a:lnTo>
                    <a:pt x="5000121" y="1240920"/>
                  </a:lnTo>
                  <a:cubicBezTo>
                    <a:pt x="5000121" y="1263442"/>
                    <a:pt x="4981864" y="1281699"/>
                    <a:pt x="4959342" y="1281699"/>
                  </a:cubicBezTo>
                  <a:lnTo>
                    <a:pt x="40779" y="1281699"/>
                  </a:lnTo>
                  <a:cubicBezTo>
                    <a:pt x="18258" y="1281699"/>
                    <a:pt x="0" y="1263442"/>
                    <a:pt x="0" y="1240920"/>
                  </a:cubicBezTo>
                  <a:lnTo>
                    <a:pt x="0" y="40779"/>
                  </a:lnTo>
                  <a:cubicBezTo>
                    <a:pt x="0" y="18258"/>
                    <a:pt x="18258" y="0"/>
                    <a:pt x="40779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000121" cy="1300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049701" y="3239904"/>
            <a:ext cx="9289809" cy="6146017"/>
            <a:chOff x="0" y="0"/>
            <a:chExt cx="1439235" cy="9521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9235" cy="952179"/>
            </a:xfrm>
            <a:custGeom>
              <a:avLst/>
              <a:gdLst/>
              <a:ahLst/>
              <a:cxnLst/>
              <a:rect l="l" t="t" r="r" b="b"/>
              <a:pathLst>
                <a:path w="1439235" h="952179">
                  <a:moveTo>
                    <a:pt x="83338" y="0"/>
                  </a:moveTo>
                  <a:lnTo>
                    <a:pt x="1355897" y="0"/>
                  </a:lnTo>
                  <a:cubicBezTo>
                    <a:pt x="1401923" y="0"/>
                    <a:pt x="1439235" y="37312"/>
                    <a:pt x="1439235" y="83338"/>
                  </a:cubicBezTo>
                  <a:lnTo>
                    <a:pt x="1439235" y="868841"/>
                  </a:lnTo>
                  <a:cubicBezTo>
                    <a:pt x="1439235" y="890944"/>
                    <a:pt x="1430454" y="912141"/>
                    <a:pt x="1414826" y="927770"/>
                  </a:cubicBezTo>
                  <a:cubicBezTo>
                    <a:pt x="1399197" y="943399"/>
                    <a:pt x="1377999" y="952179"/>
                    <a:pt x="1355897" y="952179"/>
                  </a:cubicBezTo>
                  <a:lnTo>
                    <a:pt x="83338" y="952179"/>
                  </a:lnTo>
                  <a:cubicBezTo>
                    <a:pt x="61235" y="952179"/>
                    <a:pt x="40038" y="943399"/>
                    <a:pt x="24409" y="927770"/>
                  </a:cubicBezTo>
                  <a:cubicBezTo>
                    <a:pt x="8780" y="912141"/>
                    <a:pt x="0" y="890944"/>
                    <a:pt x="0" y="868841"/>
                  </a:cubicBezTo>
                  <a:lnTo>
                    <a:pt x="0" y="83338"/>
                  </a:lnTo>
                  <a:cubicBezTo>
                    <a:pt x="0" y="61235"/>
                    <a:pt x="8780" y="40038"/>
                    <a:pt x="24409" y="24409"/>
                  </a:cubicBezTo>
                  <a:cubicBezTo>
                    <a:pt x="40038" y="8780"/>
                    <a:pt x="61235" y="0"/>
                    <a:pt x="83338" y="0"/>
                  </a:cubicBezTo>
                  <a:close/>
                </a:path>
              </a:pathLst>
            </a:custGeom>
            <a:blipFill>
              <a:blip r:embed="rId2"/>
              <a:stretch>
                <a:fillRect t="-39826" b="-1132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465542" y="9473881"/>
            <a:ext cx="3129661" cy="1177535"/>
          </a:xfrm>
          <a:custGeom>
            <a:avLst/>
            <a:gdLst/>
            <a:ahLst/>
            <a:cxnLst/>
            <a:rect l="l" t="t" r="r" b="b"/>
            <a:pathLst>
              <a:path w="3129661" h="1177535">
                <a:moveTo>
                  <a:pt x="0" y="0"/>
                </a:moveTo>
                <a:lnTo>
                  <a:pt x="3129661" y="0"/>
                </a:lnTo>
                <a:lnTo>
                  <a:pt x="3129661" y="1177535"/>
                </a:lnTo>
                <a:lnTo>
                  <a:pt x="0" y="117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3305873" y="1171364"/>
            <a:ext cx="5112266" cy="492429"/>
          </a:xfrm>
          <a:custGeom>
            <a:avLst/>
            <a:gdLst/>
            <a:ahLst/>
            <a:cxnLst/>
            <a:rect l="l" t="t" r="r" b="b"/>
            <a:pathLst>
              <a:path w="5112266" h="492429">
                <a:moveTo>
                  <a:pt x="0" y="0"/>
                </a:moveTo>
                <a:lnTo>
                  <a:pt x="5112266" y="0"/>
                </a:lnTo>
                <a:lnTo>
                  <a:pt x="5112266" y="492429"/>
                </a:lnTo>
                <a:lnTo>
                  <a:pt x="0" y="4924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81878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7023236" y="8102669"/>
            <a:ext cx="1119188" cy="1959979"/>
          </a:xfrm>
          <a:custGeom>
            <a:avLst/>
            <a:gdLst/>
            <a:ahLst/>
            <a:cxnLst/>
            <a:rect l="l" t="t" r="r" b="b"/>
            <a:pathLst>
              <a:path w="1119188" h="1959979">
                <a:moveTo>
                  <a:pt x="0" y="0"/>
                </a:moveTo>
                <a:lnTo>
                  <a:pt x="1119188" y="0"/>
                </a:lnTo>
                <a:lnTo>
                  <a:pt x="1119188" y="1959979"/>
                </a:lnTo>
                <a:lnTo>
                  <a:pt x="0" y="1959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1924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301027" y="1473179"/>
            <a:ext cx="9809209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57"/>
              </a:lnSpc>
              <a:spcBef>
                <a:spcPct val="0"/>
              </a:spcBef>
            </a:pPr>
            <a:r>
              <a:rPr lang="en-US" sz="7252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Introduction </a:t>
            </a:r>
            <a:r>
              <a:rPr lang="en-US" sz="30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Hadi Al-Hajji</a:t>
            </a:r>
            <a:endParaRPr lang="en-US" sz="3000" b="1" dirty="0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44000" y="3780406"/>
            <a:ext cx="8115300" cy="5591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2"/>
              </a:lnSpc>
            </a:pPr>
            <a:r>
              <a:rPr lang="en-US" sz="2945" b="1" spc="167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Image noise</a:t>
            </a:r>
            <a:r>
              <a:rPr lang="en-US" sz="2945" spc="167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is caused by factors such as randomness and external disturbances in the imaging process, and it may lead to problems such as blurred image details, blurred edges, and color variations. </a:t>
            </a:r>
          </a:p>
          <a:p>
            <a:pPr algn="l">
              <a:lnSpc>
                <a:spcPts val="3682"/>
              </a:lnSpc>
            </a:pPr>
            <a:endParaRPr lang="en-US" sz="2945" spc="167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  <a:p>
            <a:pPr algn="l">
              <a:lnSpc>
                <a:spcPts val="3682"/>
              </a:lnSpc>
            </a:pPr>
            <a:r>
              <a:rPr lang="en-US" sz="2945" spc="167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The </a:t>
            </a:r>
            <a:r>
              <a:rPr lang="en-US" sz="2945" b="1" spc="167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core cha</a:t>
            </a:r>
            <a:r>
              <a:rPr lang="en-US" sz="2945" b="1" u="none" strike="noStrike" spc="167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llenge</a:t>
            </a:r>
            <a:r>
              <a:rPr lang="en-US" sz="2945" u="none" strike="noStrike" spc="167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is “denoising”: effectively suppressing high-frequency noise components while </a:t>
            </a:r>
            <a:r>
              <a:rPr lang="en-US" sz="2945" b="1" u="none" strike="noStrike" spc="167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preserving critical</a:t>
            </a:r>
            <a:r>
              <a:rPr lang="en-US" sz="2945" u="none" strike="noStrike" spc="167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structural features, such as sharp edges and fine textures.</a:t>
            </a:r>
          </a:p>
        </p:txBody>
      </p:sp>
      <p:sp>
        <p:nvSpPr>
          <p:cNvPr id="18" name="عنصر نائب لرقم الشريحة 17">
            <a:extLst>
              <a:ext uri="{FF2B5EF4-FFF2-40B4-BE49-F238E27FC236}">
                <a16:creationId xmlns:a16="http://schemas.microsoft.com/office/drawing/2014/main" id="{65EFA876-054B-2EE5-1FFE-F67E5796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3</a:t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418878" y="2132999"/>
            <a:ext cx="10627928" cy="5680074"/>
            <a:chOff x="0" y="0"/>
            <a:chExt cx="2799125" cy="14959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9125" cy="1495987"/>
            </a:xfrm>
            <a:custGeom>
              <a:avLst/>
              <a:gdLst/>
              <a:ahLst/>
              <a:cxnLst/>
              <a:rect l="l" t="t" r="r" b="b"/>
              <a:pathLst>
                <a:path w="2799125" h="1495987">
                  <a:moveTo>
                    <a:pt x="72845" y="0"/>
                  </a:moveTo>
                  <a:lnTo>
                    <a:pt x="2726280" y="0"/>
                  </a:lnTo>
                  <a:cubicBezTo>
                    <a:pt x="2766511" y="0"/>
                    <a:pt x="2799125" y="32614"/>
                    <a:pt x="2799125" y="72845"/>
                  </a:cubicBezTo>
                  <a:lnTo>
                    <a:pt x="2799125" y="1423142"/>
                  </a:lnTo>
                  <a:cubicBezTo>
                    <a:pt x="2799125" y="1442461"/>
                    <a:pt x="2791450" y="1460990"/>
                    <a:pt x="2777789" y="1474651"/>
                  </a:cubicBezTo>
                  <a:cubicBezTo>
                    <a:pt x="2764128" y="1488312"/>
                    <a:pt x="2745600" y="1495987"/>
                    <a:pt x="2726280" y="1495987"/>
                  </a:cubicBezTo>
                  <a:lnTo>
                    <a:pt x="72845" y="1495987"/>
                  </a:lnTo>
                  <a:cubicBezTo>
                    <a:pt x="53525" y="1495987"/>
                    <a:pt x="34997" y="1488312"/>
                    <a:pt x="21336" y="1474651"/>
                  </a:cubicBezTo>
                  <a:cubicBezTo>
                    <a:pt x="7675" y="1460990"/>
                    <a:pt x="0" y="1442461"/>
                    <a:pt x="0" y="1423142"/>
                  </a:cubicBezTo>
                  <a:lnTo>
                    <a:pt x="0" y="72845"/>
                  </a:lnTo>
                  <a:cubicBezTo>
                    <a:pt x="0" y="53525"/>
                    <a:pt x="7675" y="34997"/>
                    <a:pt x="21336" y="21336"/>
                  </a:cubicBezTo>
                  <a:cubicBezTo>
                    <a:pt x="34997" y="7675"/>
                    <a:pt x="53525" y="0"/>
                    <a:pt x="72845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99125" cy="1515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750714" y="-1453281"/>
            <a:ext cx="2906563" cy="2906563"/>
          </a:xfrm>
          <a:custGeom>
            <a:avLst/>
            <a:gdLst/>
            <a:ahLst/>
            <a:cxnLst/>
            <a:rect l="l" t="t" r="r" b="b"/>
            <a:pathLst>
              <a:path w="2906563" h="2906563">
                <a:moveTo>
                  <a:pt x="0" y="0"/>
                </a:moveTo>
                <a:lnTo>
                  <a:pt x="2906563" y="0"/>
                </a:lnTo>
                <a:lnTo>
                  <a:pt x="2906563" y="2906562"/>
                </a:lnTo>
                <a:lnTo>
                  <a:pt x="0" y="290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5410411" y="9258038"/>
            <a:ext cx="2457968" cy="1392034"/>
          </a:xfrm>
          <a:custGeom>
            <a:avLst/>
            <a:gdLst/>
            <a:ahLst/>
            <a:cxnLst/>
            <a:rect l="l" t="t" r="r" b="b"/>
            <a:pathLst>
              <a:path w="2457968" h="1392034">
                <a:moveTo>
                  <a:pt x="0" y="0"/>
                </a:moveTo>
                <a:lnTo>
                  <a:pt x="2457968" y="0"/>
                </a:lnTo>
                <a:lnTo>
                  <a:pt x="2457968" y="1392035"/>
                </a:lnTo>
                <a:lnTo>
                  <a:pt x="0" y="1392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2" r="-125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95558" y="3452639"/>
            <a:ext cx="1119188" cy="1959979"/>
          </a:xfrm>
          <a:custGeom>
            <a:avLst/>
            <a:gdLst/>
            <a:ahLst/>
            <a:cxnLst/>
            <a:rect l="l" t="t" r="r" b="b"/>
            <a:pathLst>
              <a:path w="1119188" h="1959979">
                <a:moveTo>
                  <a:pt x="0" y="0"/>
                </a:moveTo>
                <a:lnTo>
                  <a:pt x="1119188" y="0"/>
                </a:lnTo>
                <a:lnTo>
                  <a:pt x="1119188" y="1959979"/>
                </a:lnTo>
                <a:lnTo>
                  <a:pt x="0" y="1959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1924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3892805" y="2683392"/>
            <a:ext cx="4395195" cy="4395195"/>
          </a:xfrm>
          <a:custGeom>
            <a:avLst/>
            <a:gdLst/>
            <a:ahLst/>
            <a:cxnLst/>
            <a:rect l="l" t="t" r="r" b="b"/>
            <a:pathLst>
              <a:path w="4395195" h="4395195">
                <a:moveTo>
                  <a:pt x="0" y="0"/>
                </a:moveTo>
                <a:lnTo>
                  <a:pt x="4395195" y="0"/>
                </a:lnTo>
                <a:lnTo>
                  <a:pt x="4395195" y="4395195"/>
                </a:lnTo>
                <a:lnTo>
                  <a:pt x="0" y="43951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28700" y="1047750"/>
            <a:ext cx="11175296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8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R</a:t>
            </a: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esearch Objectives</a:t>
            </a:r>
            <a:r>
              <a:rPr lang="en-US" sz="3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Hadi Al-Hajji</a:t>
            </a:r>
            <a:endParaRPr lang="ar-SA" sz="3000" dirty="0">
              <a:latin typeface="Gordita Bold" panose="020B060402020202020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22119" y="2777625"/>
            <a:ext cx="10581877" cy="471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1659" lvl="1" indent="-360830" algn="l">
              <a:lnSpc>
                <a:spcPts val="4178"/>
              </a:lnSpc>
              <a:buFont typeface="Arial"/>
              <a:buChar char="•"/>
            </a:pPr>
            <a:r>
              <a:rPr lang="en-US" sz="3342" b="1" spc="190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Fixing the Image:</a:t>
            </a:r>
            <a:r>
              <a:rPr lang="en-US" sz="3342" spc="190" dirty="0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Take a noisy picture (y) and separate it into a clean picture (x) and the noise (v). This follows a simple formula: y = x + v</a:t>
            </a:r>
          </a:p>
          <a:p>
            <a:pPr algn="l">
              <a:lnSpc>
                <a:spcPts val="4178"/>
              </a:lnSpc>
            </a:pPr>
            <a:endParaRPr lang="en-US" sz="3342" spc="190" dirty="0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  <a:p>
            <a:pPr marL="721659" lvl="1" indent="-360830" algn="l">
              <a:lnSpc>
                <a:spcPts val="4178"/>
              </a:lnSpc>
              <a:buFont typeface="Arial"/>
              <a:buChar char="•"/>
            </a:pPr>
            <a:r>
              <a:rPr lang="en-US" sz="3342" b="1" spc="190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Balancing Act:</a:t>
            </a:r>
            <a:r>
              <a:rPr lang="en-US" sz="3342" spc="190" dirty="0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Find a "middle solution" that removes as much noise as possible without making the final image look blurry.</a:t>
            </a:r>
          </a:p>
          <a:p>
            <a:pPr algn="l">
              <a:lnSpc>
                <a:spcPts val="4178"/>
              </a:lnSpc>
            </a:pPr>
            <a:endParaRPr lang="en-US" sz="3342" spc="190" dirty="0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</p:txBody>
      </p:sp>
      <p:sp>
        <p:nvSpPr>
          <p:cNvPr id="17" name="عنصر نائب لرقم الشريحة 16">
            <a:extLst>
              <a:ext uri="{FF2B5EF4-FFF2-40B4-BE49-F238E27FC236}">
                <a16:creationId xmlns:a16="http://schemas.microsoft.com/office/drawing/2014/main" id="{A6852CCA-4FFB-C931-4120-02DCA250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558" y="9588930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4</a:t>
            </a:fld>
            <a:endParaRPr 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4909" y="9258300"/>
            <a:ext cx="19067455" cy="492429"/>
            <a:chOff x="0" y="0"/>
            <a:chExt cx="25423274" cy="6565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12405127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6206848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18606919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050597" y="506493"/>
            <a:ext cx="19067455" cy="492429"/>
            <a:chOff x="0" y="0"/>
            <a:chExt cx="25423274" cy="6565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405127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206848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8606919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997809" y="-808321"/>
            <a:ext cx="5202118" cy="2782028"/>
            <a:chOff x="0" y="0"/>
            <a:chExt cx="1370105" cy="732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0105" cy="732715"/>
            </a:xfrm>
            <a:custGeom>
              <a:avLst/>
              <a:gdLst/>
              <a:ahLst/>
              <a:cxnLst/>
              <a:rect l="l" t="t" r="r" b="b"/>
              <a:pathLst>
                <a:path w="1370105" h="732715">
                  <a:moveTo>
                    <a:pt x="148822" y="0"/>
                  </a:moveTo>
                  <a:lnTo>
                    <a:pt x="1221283" y="0"/>
                  </a:lnTo>
                  <a:cubicBezTo>
                    <a:pt x="1260753" y="0"/>
                    <a:pt x="1298606" y="15679"/>
                    <a:pt x="1326516" y="43589"/>
                  </a:cubicBezTo>
                  <a:cubicBezTo>
                    <a:pt x="1354426" y="71499"/>
                    <a:pt x="1370105" y="109352"/>
                    <a:pt x="1370105" y="148822"/>
                  </a:cubicBezTo>
                  <a:lnTo>
                    <a:pt x="1370105" y="583893"/>
                  </a:lnTo>
                  <a:cubicBezTo>
                    <a:pt x="1370105" y="623363"/>
                    <a:pt x="1354426" y="661217"/>
                    <a:pt x="1326516" y="689126"/>
                  </a:cubicBezTo>
                  <a:cubicBezTo>
                    <a:pt x="1298606" y="717036"/>
                    <a:pt x="1260753" y="732715"/>
                    <a:pt x="1221283" y="732715"/>
                  </a:cubicBezTo>
                  <a:lnTo>
                    <a:pt x="148822" y="732715"/>
                  </a:lnTo>
                  <a:cubicBezTo>
                    <a:pt x="109352" y="732715"/>
                    <a:pt x="71499" y="717036"/>
                    <a:pt x="43589" y="689126"/>
                  </a:cubicBezTo>
                  <a:cubicBezTo>
                    <a:pt x="15679" y="661217"/>
                    <a:pt x="0" y="623363"/>
                    <a:pt x="0" y="583893"/>
                  </a:cubicBezTo>
                  <a:lnTo>
                    <a:pt x="0" y="148822"/>
                  </a:lnTo>
                  <a:cubicBezTo>
                    <a:pt x="0" y="109352"/>
                    <a:pt x="15679" y="71499"/>
                    <a:pt x="43589" y="43589"/>
                  </a:cubicBezTo>
                  <a:cubicBezTo>
                    <a:pt x="71499" y="15679"/>
                    <a:pt x="109352" y="0"/>
                    <a:pt x="148822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370105" cy="751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475656" y="935097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6" name="Group 16"/>
          <p:cNvGrpSpPr/>
          <p:nvPr/>
        </p:nvGrpSpPr>
        <p:grpSpPr>
          <a:xfrm>
            <a:off x="-1017209" y="8359715"/>
            <a:ext cx="5202118" cy="2782028"/>
            <a:chOff x="0" y="0"/>
            <a:chExt cx="1370105" cy="7327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70105" cy="732715"/>
            </a:xfrm>
            <a:custGeom>
              <a:avLst/>
              <a:gdLst/>
              <a:ahLst/>
              <a:cxnLst/>
              <a:rect l="l" t="t" r="r" b="b"/>
              <a:pathLst>
                <a:path w="1370105" h="732715">
                  <a:moveTo>
                    <a:pt x="148822" y="0"/>
                  </a:moveTo>
                  <a:lnTo>
                    <a:pt x="1221283" y="0"/>
                  </a:lnTo>
                  <a:cubicBezTo>
                    <a:pt x="1260753" y="0"/>
                    <a:pt x="1298606" y="15679"/>
                    <a:pt x="1326516" y="43589"/>
                  </a:cubicBezTo>
                  <a:cubicBezTo>
                    <a:pt x="1354426" y="71499"/>
                    <a:pt x="1370105" y="109352"/>
                    <a:pt x="1370105" y="148822"/>
                  </a:cubicBezTo>
                  <a:lnTo>
                    <a:pt x="1370105" y="583893"/>
                  </a:lnTo>
                  <a:cubicBezTo>
                    <a:pt x="1370105" y="623363"/>
                    <a:pt x="1354426" y="661217"/>
                    <a:pt x="1326516" y="689126"/>
                  </a:cubicBezTo>
                  <a:cubicBezTo>
                    <a:pt x="1298606" y="717036"/>
                    <a:pt x="1260753" y="732715"/>
                    <a:pt x="1221283" y="732715"/>
                  </a:cubicBezTo>
                  <a:lnTo>
                    <a:pt x="148822" y="732715"/>
                  </a:lnTo>
                  <a:cubicBezTo>
                    <a:pt x="109352" y="732715"/>
                    <a:pt x="71499" y="717036"/>
                    <a:pt x="43589" y="689126"/>
                  </a:cubicBezTo>
                  <a:cubicBezTo>
                    <a:pt x="15679" y="661217"/>
                    <a:pt x="0" y="623363"/>
                    <a:pt x="0" y="583893"/>
                  </a:cubicBezTo>
                  <a:lnTo>
                    <a:pt x="0" y="148822"/>
                  </a:lnTo>
                  <a:cubicBezTo>
                    <a:pt x="0" y="109352"/>
                    <a:pt x="15679" y="71499"/>
                    <a:pt x="43589" y="43589"/>
                  </a:cubicBezTo>
                  <a:cubicBezTo>
                    <a:pt x="71499" y="15679"/>
                    <a:pt x="109352" y="0"/>
                    <a:pt x="148822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370105" cy="751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75188" y="8997197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3" y="0"/>
                </a:lnTo>
                <a:lnTo>
                  <a:pt x="2783643" y="522206"/>
                </a:lnTo>
                <a:lnTo>
                  <a:pt x="0" y="522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0" name="Group 20"/>
          <p:cNvGrpSpPr/>
          <p:nvPr/>
        </p:nvGrpSpPr>
        <p:grpSpPr>
          <a:xfrm>
            <a:off x="9611433" y="3822199"/>
            <a:ext cx="8214408" cy="4462082"/>
            <a:chOff x="0" y="0"/>
            <a:chExt cx="2163465" cy="11751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63465" cy="1175199"/>
            </a:xfrm>
            <a:custGeom>
              <a:avLst/>
              <a:gdLst/>
              <a:ahLst/>
              <a:cxnLst/>
              <a:rect l="l" t="t" r="r" b="b"/>
              <a:pathLst>
                <a:path w="2163465" h="1175199">
                  <a:moveTo>
                    <a:pt x="94248" y="0"/>
                  </a:moveTo>
                  <a:lnTo>
                    <a:pt x="2069217" y="0"/>
                  </a:lnTo>
                  <a:cubicBezTo>
                    <a:pt x="2094213" y="0"/>
                    <a:pt x="2118186" y="9930"/>
                    <a:pt x="2135861" y="27605"/>
                  </a:cubicBezTo>
                  <a:cubicBezTo>
                    <a:pt x="2153536" y="45280"/>
                    <a:pt x="2163465" y="69252"/>
                    <a:pt x="2163465" y="94248"/>
                  </a:cubicBezTo>
                  <a:lnTo>
                    <a:pt x="2163465" y="1080951"/>
                  </a:lnTo>
                  <a:cubicBezTo>
                    <a:pt x="2163465" y="1105947"/>
                    <a:pt x="2153536" y="1129919"/>
                    <a:pt x="2135861" y="1147594"/>
                  </a:cubicBezTo>
                  <a:cubicBezTo>
                    <a:pt x="2118186" y="1165269"/>
                    <a:pt x="2094213" y="1175199"/>
                    <a:pt x="2069217" y="1175199"/>
                  </a:cubicBezTo>
                  <a:lnTo>
                    <a:pt x="94248" y="1175199"/>
                  </a:lnTo>
                  <a:cubicBezTo>
                    <a:pt x="69252" y="1175199"/>
                    <a:pt x="45280" y="1165269"/>
                    <a:pt x="27605" y="1147594"/>
                  </a:cubicBezTo>
                  <a:cubicBezTo>
                    <a:pt x="9930" y="1129919"/>
                    <a:pt x="0" y="1105947"/>
                    <a:pt x="0" y="1080951"/>
                  </a:cubicBezTo>
                  <a:lnTo>
                    <a:pt x="0" y="94248"/>
                  </a:lnTo>
                  <a:cubicBezTo>
                    <a:pt x="0" y="69252"/>
                    <a:pt x="9930" y="45280"/>
                    <a:pt x="27605" y="27605"/>
                  </a:cubicBezTo>
                  <a:cubicBezTo>
                    <a:pt x="45280" y="9930"/>
                    <a:pt x="69252" y="0"/>
                    <a:pt x="94248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163465" cy="1194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3951" y="3812674"/>
            <a:ext cx="8304537" cy="4471607"/>
            <a:chOff x="0" y="0"/>
            <a:chExt cx="2187203" cy="11777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7203" cy="1177707"/>
            </a:xfrm>
            <a:custGeom>
              <a:avLst/>
              <a:gdLst/>
              <a:ahLst/>
              <a:cxnLst/>
              <a:rect l="l" t="t" r="r" b="b"/>
              <a:pathLst>
                <a:path w="2187203" h="1177707">
                  <a:moveTo>
                    <a:pt x="93225" y="0"/>
                  </a:moveTo>
                  <a:lnTo>
                    <a:pt x="2093978" y="0"/>
                  </a:lnTo>
                  <a:cubicBezTo>
                    <a:pt x="2145465" y="0"/>
                    <a:pt x="2187203" y="41738"/>
                    <a:pt x="2187203" y="93225"/>
                  </a:cubicBezTo>
                  <a:lnTo>
                    <a:pt x="2187203" y="1084482"/>
                  </a:lnTo>
                  <a:cubicBezTo>
                    <a:pt x="2187203" y="1109207"/>
                    <a:pt x="2177381" y="1132919"/>
                    <a:pt x="2159898" y="1150402"/>
                  </a:cubicBezTo>
                  <a:cubicBezTo>
                    <a:pt x="2142415" y="1167885"/>
                    <a:pt x="2118703" y="1177707"/>
                    <a:pt x="2093978" y="1177707"/>
                  </a:cubicBezTo>
                  <a:lnTo>
                    <a:pt x="93225" y="1177707"/>
                  </a:lnTo>
                  <a:cubicBezTo>
                    <a:pt x="68500" y="1177707"/>
                    <a:pt x="44788" y="1167885"/>
                    <a:pt x="27305" y="1150402"/>
                  </a:cubicBezTo>
                  <a:cubicBezTo>
                    <a:pt x="9822" y="1132919"/>
                    <a:pt x="0" y="1109207"/>
                    <a:pt x="0" y="1084482"/>
                  </a:cubicBezTo>
                  <a:lnTo>
                    <a:pt x="0" y="93225"/>
                  </a:lnTo>
                  <a:cubicBezTo>
                    <a:pt x="0" y="68500"/>
                    <a:pt x="9822" y="44788"/>
                    <a:pt x="27305" y="27305"/>
                  </a:cubicBezTo>
                  <a:cubicBezTo>
                    <a:pt x="44788" y="9822"/>
                    <a:pt x="68500" y="0"/>
                    <a:pt x="93225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187203" cy="1196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73277" y="954147"/>
            <a:ext cx="15070162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Literature Review </a:t>
            </a:r>
            <a:r>
              <a:rPr lang="en-US" sz="3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Hadi Al-Hajji</a:t>
            </a:r>
            <a:endParaRPr lang="ar-SA" sz="3000" dirty="0">
              <a:latin typeface="Gordita Bold" panose="020B0604020202020204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84080" y="4164750"/>
            <a:ext cx="8124278" cy="376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The Technology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Shift: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that moved away from traditional mathematical filters and transitioned toward deep learning neural networks.</a:t>
            </a:r>
          </a:p>
          <a:p>
            <a:pPr marL="474979" lvl="1" indent="-237490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The Core Trade-off: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Traditional filters are fast but blur images, while advanced deep learning models preserve details but require more computing power.</a:t>
            </a:r>
          </a:p>
          <a:p>
            <a:pPr marL="474979" lvl="1" indent="-237490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The Attention Advantage: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Adding "attention modules" to neural networks allows the AI to focus on the most important shapes and edges in an image.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68425" y="4050132"/>
            <a:ext cx="7700424" cy="399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u="none" strike="noStrike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DnCNN (Discriminative Model):</a:t>
            </a:r>
            <a:r>
              <a:rPr lang="en-US" sz="2100" u="none" strike="noStrike" spc="11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This model uses </a:t>
            </a:r>
            <a:r>
              <a:rPr lang="en-US" sz="2100" b="1" u="none" strike="noStrike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residual learning</a:t>
            </a:r>
            <a:r>
              <a:rPr lang="en-US" sz="2100" u="none" strike="noStrike" spc="11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to isolate and subtract noise within its hidden layers. It is highly effective and fast for standard grain (Gaussian noise) but struggles to restore complex textures.</a:t>
            </a:r>
          </a:p>
          <a:p>
            <a:pPr marL="453390" lvl="1" indent="-226695" algn="l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u="none" strike="noStrike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CBAM-DnCNN (Attention Module Integration):</a:t>
            </a:r>
            <a:r>
              <a:rPr lang="en-US" sz="2100" u="none" strike="noStrike" spc="11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By adding a Convolutional Block Attention Module, this model scores and prioritizes important features across spatial areas and color channels. This makes it accurate enough for high-stakes fields like medical imaging and self-driving cars.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63883" y="3010034"/>
            <a:ext cx="5764673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Significant Findings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36300" y="3010034"/>
            <a:ext cx="5764673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9"/>
              </a:lnSpc>
              <a:spcBef>
                <a:spcPct val="0"/>
              </a:spcBef>
            </a:pPr>
            <a:r>
              <a:rPr lang="en-US" sz="2599" b="1" u="none" strike="noStrike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Brief Explanation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18625" y="2215446"/>
            <a:ext cx="7850749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Deep Neural Networks for Image Denoising</a:t>
            </a:r>
          </a:p>
        </p:txBody>
      </p:sp>
      <p:sp>
        <p:nvSpPr>
          <p:cNvPr id="38" name="عنصر نائب لرقم الشريحة 37">
            <a:extLst>
              <a:ext uri="{FF2B5EF4-FFF2-40B4-BE49-F238E27FC236}">
                <a16:creationId xmlns:a16="http://schemas.microsoft.com/office/drawing/2014/main" id="{D51B3309-58D4-FBDE-7765-AA463E2C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0" y="9067376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5</a:t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4909" y="9258300"/>
            <a:ext cx="19067455" cy="492429"/>
            <a:chOff x="0" y="0"/>
            <a:chExt cx="25423274" cy="6565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12405127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6206848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18606919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050597" y="506493"/>
            <a:ext cx="19067455" cy="492429"/>
            <a:chOff x="0" y="0"/>
            <a:chExt cx="25423274" cy="6565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405127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206848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8606919" y="0"/>
              <a:ext cx="6816355" cy="656572"/>
            </a:xfrm>
            <a:custGeom>
              <a:avLst/>
              <a:gdLst/>
              <a:ahLst/>
              <a:cxnLst/>
              <a:rect l="l" t="t" r="r" b="b"/>
              <a:pathLst>
                <a:path w="6816355" h="656572">
                  <a:moveTo>
                    <a:pt x="0" y="0"/>
                  </a:moveTo>
                  <a:lnTo>
                    <a:pt x="6816355" y="0"/>
                  </a:lnTo>
                  <a:lnTo>
                    <a:pt x="6816355" y="656572"/>
                  </a:lnTo>
                  <a:lnTo>
                    <a:pt x="0" y="65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8187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997809" y="-808321"/>
            <a:ext cx="5202118" cy="2782028"/>
            <a:chOff x="0" y="0"/>
            <a:chExt cx="1370105" cy="732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0105" cy="732715"/>
            </a:xfrm>
            <a:custGeom>
              <a:avLst/>
              <a:gdLst/>
              <a:ahLst/>
              <a:cxnLst/>
              <a:rect l="l" t="t" r="r" b="b"/>
              <a:pathLst>
                <a:path w="1370105" h="732715">
                  <a:moveTo>
                    <a:pt x="148822" y="0"/>
                  </a:moveTo>
                  <a:lnTo>
                    <a:pt x="1221283" y="0"/>
                  </a:lnTo>
                  <a:cubicBezTo>
                    <a:pt x="1260753" y="0"/>
                    <a:pt x="1298606" y="15679"/>
                    <a:pt x="1326516" y="43589"/>
                  </a:cubicBezTo>
                  <a:cubicBezTo>
                    <a:pt x="1354426" y="71499"/>
                    <a:pt x="1370105" y="109352"/>
                    <a:pt x="1370105" y="148822"/>
                  </a:cubicBezTo>
                  <a:lnTo>
                    <a:pt x="1370105" y="583893"/>
                  </a:lnTo>
                  <a:cubicBezTo>
                    <a:pt x="1370105" y="623363"/>
                    <a:pt x="1354426" y="661217"/>
                    <a:pt x="1326516" y="689126"/>
                  </a:cubicBezTo>
                  <a:cubicBezTo>
                    <a:pt x="1298606" y="717036"/>
                    <a:pt x="1260753" y="732715"/>
                    <a:pt x="1221283" y="732715"/>
                  </a:cubicBezTo>
                  <a:lnTo>
                    <a:pt x="148822" y="732715"/>
                  </a:lnTo>
                  <a:cubicBezTo>
                    <a:pt x="109352" y="732715"/>
                    <a:pt x="71499" y="717036"/>
                    <a:pt x="43589" y="689126"/>
                  </a:cubicBezTo>
                  <a:cubicBezTo>
                    <a:pt x="15679" y="661217"/>
                    <a:pt x="0" y="623363"/>
                    <a:pt x="0" y="583893"/>
                  </a:cubicBezTo>
                  <a:lnTo>
                    <a:pt x="0" y="148822"/>
                  </a:lnTo>
                  <a:cubicBezTo>
                    <a:pt x="0" y="109352"/>
                    <a:pt x="15679" y="71499"/>
                    <a:pt x="43589" y="43589"/>
                  </a:cubicBezTo>
                  <a:cubicBezTo>
                    <a:pt x="71499" y="15679"/>
                    <a:pt x="109352" y="0"/>
                    <a:pt x="148822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370105" cy="751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475656" y="935097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6" name="Group 16"/>
          <p:cNvGrpSpPr/>
          <p:nvPr/>
        </p:nvGrpSpPr>
        <p:grpSpPr>
          <a:xfrm>
            <a:off x="-1017209" y="8359715"/>
            <a:ext cx="5202118" cy="2782028"/>
            <a:chOff x="0" y="0"/>
            <a:chExt cx="1370105" cy="7327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70105" cy="732715"/>
            </a:xfrm>
            <a:custGeom>
              <a:avLst/>
              <a:gdLst/>
              <a:ahLst/>
              <a:cxnLst/>
              <a:rect l="l" t="t" r="r" b="b"/>
              <a:pathLst>
                <a:path w="1370105" h="732715">
                  <a:moveTo>
                    <a:pt x="148822" y="0"/>
                  </a:moveTo>
                  <a:lnTo>
                    <a:pt x="1221283" y="0"/>
                  </a:lnTo>
                  <a:cubicBezTo>
                    <a:pt x="1260753" y="0"/>
                    <a:pt x="1298606" y="15679"/>
                    <a:pt x="1326516" y="43589"/>
                  </a:cubicBezTo>
                  <a:cubicBezTo>
                    <a:pt x="1354426" y="71499"/>
                    <a:pt x="1370105" y="109352"/>
                    <a:pt x="1370105" y="148822"/>
                  </a:cubicBezTo>
                  <a:lnTo>
                    <a:pt x="1370105" y="583893"/>
                  </a:lnTo>
                  <a:cubicBezTo>
                    <a:pt x="1370105" y="623363"/>
                    <a:pt x="1354426" y="661217"/>
                    <a:pt x="1326516" y="689126"/>
                  </a:cubicBezTo>
                  <a:cubicBezTo>
                    <a:pt x="1298606" y="717036"/>
                    <a:pt x="1260753" y="732715"/>
                    <a:pt x="1221283" y="732715"/>
                  </a:cubicBezTo>
                  <a:lnTo>
                    <a:pt x="148822" y="732715"/>
                  </a:lnTo>
                  <a:cubicBezTo>
                    <a:pt x="109352" y="732715"/>
                    <a:pt x="71499" y="717036"/>
                    <a:pt x="43589" y="689126"/>
                  </a:cubicBezTo>
                  <a:cubicBezTo>
                    <a:pt x="15679" y="661217"/>
                    <a:pt x="0" y="623363"/>
                    <a:pt x="0" y="583893"/>
                  </a:cubicBezTo>
                  <a:lnTo>
                    <a:pt x="0" y="148822"/>
                  </a:lnTo>
                  <a:cubicBezTo>
                    <a:pt x="0" y="109352"/>
                    <a:pt x="15679" y="71499"/>
                    <a:pt x="43589" y="43589"/>
                  </a:cubicBezTo>
                  <a:cubicBezTo>
                    <a:pt x="71499" y="15679"/>
                    <a:pt x="109352" y="0"/>
                    <a:pt x="148822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370105" cy="751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75188" y="8997197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3" y="0"/>
                </a:lnTo>
                <a:lnTo>
                  <a:pt x="2783643" y="522206"/>
                </a:lnTo>
                <a:lnTo>
                  <a:pt x="0" y="522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0" name="Group 20"/>
          <p:cNvGrpSpPr/>
          <p:nvPr/>
        </p:nvGrpSpPr>
        <p:grpSpPr>
          <a:xfrm>
            <a:off x="9611433" y="3822199"/>
            <a:ext cx="8214408" cy="4462082"/>
            <a:chOff x="0" y="0"/>
            <a:chExt cx="2163465" cy="11751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63465" cy="1175199"/>
            </a:xfrm>
            <a:custGeom>
              <a:avLst/>
              <a:gdLst/>
              <a:ahLst/>
              <a:cxnLst/>
              <a:rect l="l" t="t" r="r" b="b"/>
              <a:pathLst>
                <a:path w="2163465" h="1175199">
                  <a:moveTo>
                    <a:pt x="94248" y="0"/>
                  </a:moveTo>
                  <a:lnTo>
                    <a:pt x="2069217" y="0"/>
                  </a:lnTo>
                  <a:cubicBezTo>
                    <a:pt x="2094213" y="0"/>
                    <a:pt x="2118186" y="9930"/>
                    <a:pt x="2135861" y="27605"/>
                  </a:cubicBezTo>
                  <a:cubicBezTo>
                    <a:pt x="2153536" y="45280"/>
                    <a:pt x="2163465" y="69252"/>
                    <a:pt x="2163465" y="94248"/>
                  </a:cubicBezTo>
                  <a:lnTo>
                    <a:pt x="2163465" y="1080951"/>
                  </a:lnTo>
                  <a:cubicBezTo>
                    <a:pt x="2163465" y="1105947"/>
                    <a:pt x="2153536" y="1129919"/>
                    <a:pt x="2135861" y="1147594"/>
                  </a:cubicBezTo>
                  <a:cubicBezTo>
                    <a:pt x="2118186" y="1165269"/>
                    <a:pt x="2094213" y="1175199"/>
                    <a:pt x="2069217" y="1175199"/>
                  </a:cubicBezTo>
                  <a:lnTo>
                    <a:pt x="94248" y="1175199"/>
                  </a:lnTo>
                  <a:cubicBezTo>
                    <a:pt x="69252" y="1175199"/>
                    <a:pt x="45280" y="1165269"/>
                    <a:pt x="27605" y="1147594"/>
                  </a:cubicBezTo>
                  <a:cubicBezTo>
                    <a:pt x="9930" y="1129919"/>
                    <a:pt x="0" y="1105947"/>
                    <a:pt x="0" y="1080951"/>
                  </a:cubicBezTo>
                  <a:lnTo>
                    <a:pt x="0" y="94248"/>
                  </a:lnTo>
                  <a:cubicBezTo>
                    <a:pt x="0" y="69252"/>
                    <a:pt x="9930" y="45280"/>
                    <a:pt x="27605" y="27605"/>
                  </a:cubicBezTo>
                  <a:cubicBezTo>
                    <a:pt x="45280" y="9930"/>
                    <a:pt x="69252" y="0"/>
                    <a:pt x="94248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163465" cy="1194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3951" y="3812674"/>
            <a:ext cx="8304537" cy="4471607"/>
            <a:chOff x="0" y="0"/>
            <a:chExt cx="2187203" cy="11777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7203" cy="1177707"/>
            </a:xfrm>
            <a:custGeom>
              <a:avLst/>
              <a:gdLst/>
              <a:ahLst/>
              <a:cxnLst/>
              <a:rect l="l" t="t" r="r" b="b"/>
              <a:pathLst>
                <a:path w="2187203" h="1177707">
                  <a:moveTo>
                    <a:pt x="93225" y="0"/>
                  </a:moveTo>
                  <a:lnTo>
                    <a:pt x="2093978" y="0"/>
                  </a:lnTo>
                  <a:cubicBezTo>
                    <a:pt x="2145465" y="0"/>
                    <a:pt x="2187203" y="41738"/>
                    <a:pt x="2187203" y="93225"/>
                  </a:cubicBezTo>
                  <a:lnTo>
                    <a:pt x="2187203" y="1084482"/>
                  </a:lnTo>
                  <a:cubicBezTo>
                    <a:pt x="2187203" y="1109207"/>
                    <a:pt x="2177381" y="1132919"/>
                    <a:pt x="2159898" y="1150402"/>
                  </a:cubicBezTo>
                  <a:cubicBezTo>
                    <a:pt x="2142415" y="1167885"/>
                    <a:pt x="2118703" y="1177707"/>
                    <a:pt x="2093978" y="1177707"/>
                  </a:cubicBezTo>
                  <a:lnTo>
                    <a:pt x="93225" y="1177707"/>
                  </a:lnTo>
                  <a:cubicBezTo>
                    <a:pt x="68500" y="1177707"/>
                    <a:pt x="44788" y="1167885"/>
                    <a:pt x="27305" y="1150402"/>
                  </a:cubicBezTo>
                  <a:cubicBezTo>
                    <a:pt x="9822" y="1132919"/>
                    <a:pt x="0" y="1109207"/>
                    <a:pt x="0" y="1084482"/>
                  </a:cubicBezTo>
                  <a:lnTo>
                    <a:pt x="0" y="93225"/>
                  </a:lnTo>
                  <a:cubicBezTo>
                    <a:pt x="0" y="68500"/>
                    <a:pt x="9822" y="44788"/>
                    <a:pt x="27305" y="27305"/>
                  </a:cubicBezTo>
                  <a:cubicBezTo>
                    <a:pt x="44788" y="9822"/>
                    <a:pt x="68500" y="0"/>
                    <a:pt x="93225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187203" cy="1196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73277" y="954147"/>
            <a:ext cx="15070162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Literature Review </a:t>
            </a:r>
            <a:r>
              <a:rPr lang="en-US" sz="3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Mahdi </a:t>
            </a:r>
            <a:r>
              <a:rPr lang="en-US" sz="3000" dirty="0" err="1">
                <a:latin typeface="Gordita Bold" panose="020B0604020202020204" charset="0"/>
                <a:cs typeface="Gordita Bold" panose="020B0604020202020204" charset="0"/>
              </a:rPr>
              <a:t>Alkhamis</a:t>
            </a:r>
            <a:endParaRPr lang="ar-SA" sz="3000" dirty="0">
              <a:latin typeface="Gordita Bold" panose="020B0604020202020204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84080" y="4502887"/>
            <a:ext cx="8124278" cy="3081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The Power o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f U-Net:</a:t>
            </a:r>
            <a:r>
              <a:rPr lang="en-US" sz="2199" u="none" strike="noStrike" spc="125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The U-Net structure is a foundational tool for cleaning images because its shape naturally prevents the loss of background details.</a:t>
            </a:r>
          </a:p>
          <a:p>
            <a:pPr algn="l">
              <a:lnSpc>
                <a:spcPts val="2749"/>
              </a:lnSpc>
              <a:spcBef>
                <a:spcPct val="0"/>
              </a:spcBef>
            </a:pPr>
            <a:endParaRPr lang="en-US" sz="2199" u="none" strike="noStrike" spc="125">
              <a:solidFill>
                <a:srgbClr val="1C2011"/>
              </a:solidFill>
              <a:latin typeface="Gordita"/>
              <a:ea typeface="Gordita"/>
              <a:cs typeface="Gordita"/>
              <a:sym typeface="Gordita"/>
            </a:endParaRPr>
          </a:p>
          <a:p>
            <a:pPr marL="474979" lvl="1" indent="-237490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Hyperparameter Sensitivity:</a:t>
            </a:r>
            <a:r>
              <a:rPr lang="en-US" sz="2199" u="none" strike="noStrike" spc="125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The success of these networks depends heavily on fine-tuning internal settings (like kernel size and layer depth) to avoid learning errors.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68425" y="4216820"/>
            <a:ext cx="7700424" cy="3663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Sta</a:t>
            </a:r>
            <a:r>
              <a:rPr lang="en-US" sz="2100" b="1" u="none" strike="noStrike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ndard U-Net Architecture:</a:t>
            </a:r>
            <a:r>
              <a:rPr lang="en-US" sz="2100" u="none" strike="noStrike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Uses an encoder-decoder (U-shaped) structure. Its skip connections pass raw, low-level spatial data directly from the input side to the output side, </a:t>
            </a:r>
            <a:r>
              <a:rPr lang="en-US" sz="2100" b="1" u="none" strike="noStrike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preventing important image details</a:t>
            </a:r>
            <a:r>
              <a:rPr lang="en-US" sz="2100" u="none" strike="noStrike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from getting lost during processing.</a:t>
            </a:r>
          </a:p>
          <a:p>
            <a:pPr marL="453390" lvl="1" indent="-226695" algn="l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u="none" strike="noStrike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Hyperparameter Tuning:</a:t>
            </a:r>
            <a:r>
              <a:rPr lang="en-US" sz="2100" u="none" strike="noStrike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Research shows that while adding more layers helps the model fit the data better, </a:t>
            </a:r>
            <a:r>
              <a:rPr lang="en-US" sz="2100" b="1" u="none" strike="noStrike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kernel sizes must be carefully tuned</a:t>
            </a:r>
            <a:r>
              <a:rPr lang="en-US" sz="2100" u="none" strike="noStrike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to lower the Mean Absolute Error (MAE) and prevent the AI from overfitting.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63883" y="3010034"/>
            <a:ext cx="5764673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Significant Findings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36300" y="3010034"/>
            <a:ext cx="5764673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9"/>
              </a:lnSpc>
              <a:spcBef>
                <a:spcPct val="0"/>
              </a:spcBef>
            </a:pPr>
            <a:r>
              <a:rPr lang="en-US" sz="2599" b="1" u="none" strike="noStrike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Brief Explanation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18625" y="2215446"/>
            <a:ext cx="7850749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U-Net and Residual U-Net Architectures</a:t>
            </a:r>
          </a:p>
        </p:txBody>
      </p:sp>
      <p:sp>
        <p:nvSpPr>
          <p:cNvPr id="38" name="عنصر نائب لرقم الشريحة 37">
            <a:extLst>
              <a:ext uri="{FF2B5EF4-FFF2-40B4-BE49-F238E27FC236}">
                <a16:creationId xmlns:a16="http://schemas.microsoft.com/office/drawing/2014/main" id="{A07520CA-E0DF-6638-A057-EA7E00D3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0" y="9031939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6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Title 14">
            <a:extLst>
              <a:ext uri="{FF2B5EF4-FFF2-40B4-BE49-F238E27FC236}">
                <a16:creationId xmlns:a16="http://schemas.microsoft.com/office/drawing/2014/main" id="{A079EB80-4B52-933B-FC0C-D4557DFAEDE2}"/>
              </a:ext>
            </a:extLst>
          </p:cNvPr>
          <p:cNvSpPr txBox="1">
            <a:spLocks/>
          </p:cNvSpPr>
          <p:nvPr/>
        </p:nvSpPr>
        <p:spPr>
          <a:xfrm>
            <a:off x="13253290" y="1696954"/>
            <a:ext cx="4599590" cy="69816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SA" sz="4000" dirty="0">
              <a:latin typeface="Gordita Bold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8791" y="6900985"/>
            <a:ext cx="17885244" cy="4479624"/>
            <a:chOff x="0" y="0"/>
            <a:chExt cx="4710517" cy="1179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0517" cy="1179819"/>
            </a:xfrm>
            <a:custGeom>
              <a:avLst/>
              <a:gdLst/>
              <a:ahLst/>
              <a:cxnLst/>
              <a:rect l="l" t="t" r="r" b="b"/>
              <a:pathLst>
                <a:path w="4710517" h="1179819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1136532"/>
                  </a:lnTo>
                  <a:cubicBezTo>
                    <a:pt x="4710517" y="1148012"/>
                    <a:pt x="4705957" y="1159022"/>
                    <a:pt x="4697839" y="1167140"/>
                  </a:cubicBezTo>
                  <a:cubicBezTo>
                    <a:pt x="4689721" y="1175258"/>
                    <a:pt x="4678711" y="1179819"/>
                    <a:pt x="4667231" y="1179819"/>
                  </a:cubicBezTo>
                  <a:lnTo>
                    <a:pt x="43287" y="1179819"/>
                  </a:lnTo>
                  <a:cubicBezTo>
                    <a:pt x="31806" y="1179819"/>
                    <a:pt x="20796" y="1175258"/>
                    <a:pt x="12678" y="1167140"/>
                  </a:cubicBezTo>
                  <a:cubicBezTo>
                    <a:pt x="4561" y="1159022"/>
                    <a:pt x="0" y="1148012"/>
                    <a:pt x="0" y="1136532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710517" cy="1198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229699" y="7316319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7259300" y="224661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840973" y="256831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5021845" y="9574718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28700" y="1047750"/>
            <a:ext cx="16230600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Methodology (LAR U-Net)</a:t>
            </a:r>
            <a:r>
              <a:rPr lang="en-US" sz="6000" dirty="0">
                <a:latin typeface="Gordita Bold" panose="020B0604020202020204" charset="0"/>
                <a:cs typeface="Gordita Bold" panose="020B0604020202020204" charset="0"/>
              </a:rPr>
              <a:t> 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-Mahdi </a:t>
            </a:r>
            <a:r>
              <a:rPr lang="en-US" sz="3000" dirty="0" err="1">
                <a:latin typeface="Gordita Bold" panose="020B0604020202020204" charset="0"/>
                <a:cs typeface="Gordita Bold" panose="020B0604020202020204" charset="0"/>
              </a:rPr>
              <a:t>Alkhamis</a:t>
            </a:r>
            <a:endParaRPr lang="ar-SA" sz="3000" dirty="0">
              <a:latin typeface="Gordita Bold" panose="020B060402020202020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88791" y="3039037"/>
            <a:ext cx="7387228" cy="3081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In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stead of feeding only the raw, noisy image, the model utilizes Gradient-Augmented Processing. We compute the image gradients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to highlight structural edges, which are then concatenated with the original image.</a:t>
            </a:r>
          </a:p>
          <a:p>
            <a:pPr algn="l">
              <a:lnSpc>
                <a:spcPts val="2749"/>
              </a:lnSpc>
            </a:pPr>
            <a:endParaRPr lang="en-US" sz="2199" b="1" u="none" strike="noStrike" spc="125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  <a:p>
            <a:pPr algn="l">
              <a:lnSpc>
                <a:spcPts val="2749"/>
              </a:lnSpc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Operation: </a:t>
            </a:r>
          </a:p>
          <a:p>
            <a:pPr algn="l">
              <a:lnSpc>
                <a:spcPts val="2749"/>
              </a:lnSpc>
            </a:pP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Using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Sobel filters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to calculate horizontal (Gx) and vertical (Gy) gradients.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8791" y="2310692"/>
            <a:ext cx="7387228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  <a:spcBef>
                <a:spcPct val="0"/>
              </a:spcBef>
            </a:pPr>
            <a:r>
              <a:rPr lang="en-US" sz="2300" b="1" spc="13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The Input: Gradient-Augmented Processing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8577" y="7775911"/>
            <a:ext cx="7115423" cy="132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 b="1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Why?</a:t>
            </a:r>
          </a:p>
          <a:p>
            <a:pPr algn="l">
              <a:lnSpc>
                <a:spcPts val="2625"/>
              </a:lnSpc>
            </a:pPr>
            <a:r>
              <a:rPr lang="en-US" sz="2100" spc="11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Thi</a:t>
            </a:r>
            <a:r>
              <a:rPr lang="en-US" sz="2100" u="none" strike="noStrike" spc="11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s forces the model to recognize "edges" immediately, preventing the over-smoothing common in basic CNN-based denoisers.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57046" y="2299863"/>
            <a:ext cx="6721227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The Backbone: U-Net with Skip Connections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57046" y="2867587"/>
            <a:ext cx="7702254" cy="3424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749"/>
              </a:lnSpc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Kernel Choice: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3x3 kernels are used. Research suggests this is the optimal balance between error reduction and model fit.</a:t>
            </a:r>
          </a:p>
          <a:p>
            <a:pPr marL="474978" lvl="1" indent="-237489" algn="l">
              <a:lnSpc>
                <a:spcPts val="2749"/>
              </a:lnSpc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Skip Connections: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These bridge the encoder and decoder, ensuring that fine details lost during the compression layers are recovered during upsampling.</a:t>
            </a:r>
          </a:p>
          <a:p>
            <a:pPr marL="474978" lvl="1" indent="-237489" algn="l">
              <a:lnSpc>
                <a:spcPts val="2749"/>
              </a:lnSpc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Residual Units: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The network is built with residual units, which ease training and facilitate information propagation.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31413" y="7811107"/>
            <a:ext cx="7115423" cy="132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 b="1" spc="11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Why?</a:t>
            </a:r>
          </a:p>
          <a:p>
            <a:pPr algn="l">
              <a:lnSpc>
                <a:spcPts val="2625"/>
              </a:lnSpc>
            </a:pPr>
            <a:r>
              <a:rPr lang="en-US" sz="2100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The</a:t>
            </a:r>
            <a:r>
              <a:rPr lang="en-US" sz="2100" u="none" strike="noStrike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architecture adopts the Symmetric Encoder-Decoder design of a U-Net to maintain high-resolution spatial data.</a:t>
            </a:r>
          </a:p>
        </p:txBody>
      </p:sp>
      <p:sp>
        <p:nvSpPr>
          <p:cNvPr id="22" name="عنصر نائب لرقم الشريحة 21">
            <a:extLst>
              <a:ext uri="{FF2B5EF4-FFF2-40B4-BE49-F238E27FC236}">
                <a16:creationId xmlns:a16="http://schemas.microsoft.com/office/drawing/2014/main" id="{AD70DAFE-6721-E94B-9988-177A3DBF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1378" y="8258193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7</a:t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8791" y="6900985"/>
            <a:ext cx="17885244" cy="4479624"/>
            <a:chOff x="0" y="0"/>
            <a:chExt cx="4710517" cy="1179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0517" cy="1179819"/>
            </a:xfrm>
            <a:custGeom>
              <a:avLst/>
              <a:gdLst/>
              <a:ahLst/>
              <a:cxnLst/>
              <a:rect l="l" t="t" r="r" b="b"/>
              <a:pathLst>
                <a:path w="4710517" h="1179819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1136532"/>
                  </a:lnTo>
                  <a:cubicBezTo>
                    <a:pt x="4710517" y="1148012"/>
                    <a:pt x="4705957" y="1159022"/>
                    <a:pt x="4697839" y="1167140"/>
                  </a:cubicBezTo>
                  <a:cubicBezTo>
                    <a:pt x="4689721" y="1175258"/>
                    <a:pt x="4678711" y="1179819"/>
                    <a:pt x="4667231" y="1179819"/>
                  </a:cubicBezTo>
                  <a:lnTo>
                    <a:pt x="43287" y="1179819"/>
                  </a:lnTo>
                  <a:cubicBezTo>
                    <a:pt x="31806" y="1179819"/>
                    <a:pt x="20796" y="1175258"/>
                    <a:pt x="12678" y="1167140"/>
                  </a:cubicBezTo>
                  <a:cubicBezTo>
                    <a:pt x="4561" y="1159022"/>
                    <a:pt x="0" y="1148012"/>
                    <a:pt x="0" y="1136532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710517" cy="1198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229699" y="7316319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7259300" y="224661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840973" y="256831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5021845" y="9574718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8602978" y="7089714"/>
            <a:ext cx="6033637" cy="3007211"/>
          </a:xfrm>
          <a:custGeom>
            <a:avLst/>
            <a:gdLst/>
            <a:ahLst/>
            <a:cxnLst/>
            <a:rect l="l" t="t" r="r" b="b"/>
            <a:pathLst>
              <a:path w="6033637" h="3007211">
                <a:moveTo>
                  <a:pt x="0" y="0"/>
                </a:moveTo>
                <a:lnTo>
                  <a:pt x="6033637" y="0"/>
                </a:lnTo>
                <a:lnTo>
                  <a:pt x="6033637" y="3007211"/>
                </a:lnTo>
                <a:lnTo>
                  <a:pt x="0" y="3007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799160" y="7449778"/>
            <a:ext cx="6418588" cy="2287083"/>
          </a:xfrm>
          <a:custGeom>
            <a:avLst/>
            <a:gdLst/>
            <a:ahLst/>
            <a:cxnLst/>
            <a:rect l="l" t="t" r="r" b="b"/>
            <a:pathLst>
              <a:path w="6418588" h="2287083">
                <a:moveTo>
                  <a:pt x="0" y="0"/>
                </a:moveTo>
                <a:lnTo>
                  <a:pt x="6418588" y="0"/>
                </a:lnTo>
                <a:lnTo>
                  <a:pt x="6418588" y="2287083"/>
                </a:lnTo>
                <a:lnTo>
                  <a:pt x="0" y="2287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1028700" y="1047750"/>
            <a:ext cx="16230600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Methodology (LAR U-Net)</a:t>
            </a:r>
            <a:r>
              <a:rPr lang="en-US" sz="60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 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-Mahdi </a:t>
            </a:r>
            <a:r>
              <a:rPr lang="en-US" sz="3000" dirty="0" err="1">
                <a:latin typeface="Gordita Bold" panose="020B0604020202020204" charset="0"/>
                <a:cs typeface="Gordita Bold" panose="020B0604020202020204" charset="0"/>
              </a:rPr>
              <a:t>Alkhamis</a:t>
            </a:r>
            <a:endParaRPr lang="ar-SA" sz="3000" dirty="0">
              <a:latin typeface="Gordita Bold" panose="020B0604020202020204" charset="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88791" y="3214004"/>
            <a:ext cx="13833054" cy="273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T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o prioritize important features, a Convolutional Block Attention Module (CBAM) is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inserted into each encoder layer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.</a:t>
            </a:r>
          </a:p>
          <a:p>
            <a:pPr algn="l">
              <a:lnSpc>
                <a:spcPts val="2749"/>
              </a:lnSpc>
            </a:pPr>
            <a:endParaRPr lang="en-US" sz="2199" u="none" strike="noStrike" spc="125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  <a:p>
            <a:pPr marL="474978" lvl="1" indent="-237489" algn="l">
              <a:lnSpc>
                <a:spcPts val="2749"/>
              </a:lnSpc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Channel Attention: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</a:t>
            </a:r>
            <a:r>
              <a:rPr lang="en-US" sz="2199" u="sng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Identifies which feature maps contain the most relevant signal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(vs. noise). This layer takes the 64 feature mappings formed in the first layer as input and then reduces the spatial dimensions of the input feature mappings to 1 by using AdaptiveAVGPool2d. Then the fc function learns the mapping of the channel weights, and finally, the sigmoid function maps the adjusted weights to each channel.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8791" y="2399934"/>
            <a:ext cx="7387228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  <a:spcBef>
                <a:spcPct val="0"/>
              </a:spcBef>
            </a:pPr>
            <a:r>
              <a:rPr lang="en-US" sz="2300" b="1" spc="13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Simple Attention Blocks (CBAM)</a:t>
            </a:r>
          </a:p>
        </p:txBody>
      </p:sp>
      <p:sp>
        <p:nvSpPr>
          <p:cNvPr id="20" name="عنصر نائب لرقم الشريحة 19">
            <a:extLst>
              <a:ext uri="{FF2B5EF4-FFF2-40B4-BE49-F238E27FC236}">
                <a16:creationId xmlns:a16="http://schemas.microsoft.com/office/drawing/2014/main" id="{BC16EBE9-66C9-66C6-56B5-BCE227DA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693" y="8294008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8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Title 14">
            <a:extLst>
              <a:ext uri="{FF2B5EF4-FFF2-40B4-BE49-F238E27FC236}">
                <a16:creationId xmlns:a16="http://schemas.microsoft.com/office/drawing/2014/main" id="{1B545563-0D41-8DBD-8BF9-C608C67AB6BA}"/>
              </a:ext>
            </a:extLst>
          </p:cNvPr>
          <p:cNvSpPr txBox="1">
            <a:spLocks/>
          </p:cNvSpPr>
          <p:nvPr/>
        </p:nvSpPr>
        <p:spPr>
          <a:xfrm>
            <a:off x="11506200" y="1144437"/>
            <a:ext cx="4907467" cy="69816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SA" sz="4000" dirty="0">
              <a:latin typeface="Gordita Bold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8791" y="6900985"/>
            <a:ext cx="17885244" cy="4479624"/>
            <a:chOff x="0" y="0"/>
            <a:chExt cx="4710517" cy="1179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0517" cy="1179819"/>
            </a:xfrm>
            <a:custGeom>
              <a:avLst/>
              <a:gdLst/>
              <a:ahLst/>
              <a:cxnLst/>
              <a:rect l="l" t="t" r="r" b="b"/>
              <a:pathLst>
                <a:path w="4710517" h="1179819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1136532"/>
                  </a:lnTo>
                  <a:cubicBezTo>
                    <a:pt x="4710517" y="1148012"/>
                    <a:pt x="4705957" y="1159022"/>
                    <a:pt x="4697839" y="1167140"/>
                  </a:cubicBezTo>
                  <a:cubicBezTo>
                    <a:pt x="4689721" y="1175258"/>
                    <a:pt x="4678711" y="1179819"/>
                    <a:pt x="4667231" y="1179819"/>
                  </a:cubicBezTo>
                  <a:lnTo>
                    <a:pt x="43287" y="1179819"/>
                  </a:lnTo>
                  <a:cubicBezTo>
                    <a:pt x="31806" y="1179819"/>
                    <a:pt x="20796" y="1175258"/>
                    <a:pt x="12678" y="1167140"/>
                  </a:cubicBezTo>
                  <a:cubicBezTo>
                    <a:pt x="4561" y="1159022"/>
                    <a:pt x="0" y="1148012"/>
                    <a:pt x="0" y="1136532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710517" cy="1198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229699" y="7316319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7259300" y="224661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840973" y="256831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5021845" y="9574718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8602978" y="7089714"/>
            <a:ext cx="6033637" cy="3007211"/>
          </a:xfrm>
          <a:custGeom>
            <a:avLst/>
            <a:gdLst/>
            <a:ahLst/>
            <a:cxnLst/>
            <a:rect l="l" t="t" r="r" b="b"/>
            <a:pathLst>
              <a:path w="6033637" h="3007211">
                <a:moveTo>
                  <a:pt x="0" y="0"/>
                </a:moveTo>
                <a:lnTo>
                  <a:pt x="6033637" y="0"/>
                </a:lnTo>
                <a:lnTo>
                  <a:pt x="6033637" y="3007211"/>
                </a:lnTo>
                <a:lnTo>
                  <a:pt x="0" y="3007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799160" y="7449778"/>
            <a:ext cx="6418588" cy="2287083"/>
          </a:xfrm>
          <a:custGeom>
            <a:avLst/>
            <a:gdLst/>
            <a:ahLst/>
            <a:cxnLst/>
            <a:rect l="l" t="t" r="r" b="b"/>
            <a:pathLst>
              <a:path w="6418588" h="2287083">
                <a:moveTo>
                  <a:pt x="0" y="0"/>
                </a:moveTo>
                <a:lnTo>
                  <a:pt x="6418588" y="0"/>
                </a:lnTo>
                <a:lnTo>
                  <a:pt x="6418588" y="2287083"/>
                </a:lnTo>
                <a:lnTo>
                  <a:pt x="0" y="2287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1028700" y="1047750"/>
            <a:ext cx="16230600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Methodology (LAR U-Net) 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-Mahdi </a:t>
            </a:r>
            <a:r>
              <a:rPr lang="en-US" sz="3000" dirty="0" err="1">
                <a:latin typeface="Gordita Bold" panose="020B0604020202020204" charset="0"/>
                <a:cs typeface="Gordita Bold" panose="020B0604020202020204" charset="0"/>
              </a:rPr>
              <a:t>Alkhamis</a:t>
            </a:r>
            <a:endParaRPr lang="en-US" sz="3000" b="1" u="none" strike="noStrike" dirty="0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88791" y="2070840"/>
            <a:ext cx="7387228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  <a:spcBef>
                <a:spcPct val="0"/>
              </a:spcBef>
            </a:pPr>
            <a:r>
              <a:rPr lang="en-US" sz="2300" b="1" spc="13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Simple Attention Blocks (CBAM)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8791" y="2559260"/>
            <a:ext cx="16616698" cy="411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749"/>
              </a:lnSpc>
              <a:buFont typeface="Arial"/>
              <a:buChar char="•"/>
            </a:pP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Spatial Attention: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</a:t>
            </a:r>
            <a:r>
              <a:rPr lang="en-US" sz="2199" u="sng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Identifies where the noise is most destructive in the spatial grid.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The Spatial Attention layer first obtains two feature mappings by calculating the mean and maximum values on the channel dimension: the mean feature mapping and the maximum feature mapping and then joins the mean feature mapping and the maximum feature mapping on the channel dimension to obtain a feature mapping. The average feature mapping and the maximum feature mapping are then connected in the channel dimension to obtain a feature mapping. This connected feature mapping contains average and maximum information about the input feature mapping. The connected feature mapping is passed through a convolutional layer (convolutional kernel size 7x7, padding 3) to perform a convolutional operation to capture the correlation between the feature mappings, thus obtaining a feature mapping representing the spatial attention weight, and finally, the output of the convolutional layer is passed through a Sigmoid function to process the output, which restricts the range of the output to be between 0 and 1, and obtains a feature mapping representing the spatial attention weight.</a:t>
            </a:r>
          </a:p>
        </p:txBody>
      </p:sp>
      <p:sp>
        <p:nvSpPr>
          <p:cNvPr id="20" name="عنصر نائب لرقم الشريحة 19">
            <a:extLst>
              <a:ext uri="{FF2B5EF4-FFF2-40B4-BE49-F238E27FC236}">
                <a16:creationId xmlns:a16="http://schemas.microsoft.com/office/drawing/2014/main" id="{AAB4BBF4-030C-EAD4-0789-A769AF92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515" y="8294008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9</a:t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8791" y="6900985"/>
            <a:ext cx="17885244" cy="4479624"/>
            <a:chOff x="0" y="0"/>
            <a:chExt cx="4710517" cy="1179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0517" cy="1179819"/>
            </a:xfrm>
            <a:custGeom>
              <a:avLst/>
              <a:gdLst/>
              <a:ahLst/>
              <a:cxnLst/>
              <a:rect l="l" t="t" r="r" b="b"/>
              <a:pathLst>
                <a:path w="4710517" h="1179819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1136532"/>
                  </a:lnTo>
                  <a:cubicBezTo>
                    <a:pt x="4710517" y="1148012"/>
                    <a:pt x="4705957" y="1159022"/>
                    <a:pt x="4697839" y="1167140"/>
                  </a:cubicBezTo>
                  <a:cubicBezTo>
                    <a:pt x="4689721" y="1175258"/>
                    <a:pt x="4678711" y="1179819"/>
                    <a:pt x="4667231" y="1179819"/>
                  </a:cubicBezTo>
                  <a:lnTo>
                    <a:pt x="43287" y="1179819"/>
                  </a:lnTo>
                  <a:cubicBezTo>
                    <a:pt x="31806" y="1179819"/>
                    <a:pt x="20796" y="1175258"/>
                    <a:pt x="12678" y="1167140"/>
                  </a:cubicBezTo>
                  <a:cubicBezTo>
                    <a:pt x="4561" y="1159022"/>
                    <a:pt x="0" y="1148012"/>
                    <a:pt x="0" y="1136532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710517" cy="1198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229699" y="7316319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7259300" y="224661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840973" y="256831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5021845" y="9574718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28700" y="1047750"/>
            <a:ext cx="16230600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Methodology (LAR U-Net)</a:t>
            </a:r>
            <a:r>
              <a:rPr lang="en-US" sz="6000" dirty="0">
                <a:latin typeface="Gordita Bold" panose="020B0604020202020204" charset="0"/>
                <a:cs typeface="Gordita Bold" panose="020B0604020202020204" charset="0"/>
              </a:rPr>
              <a:t> 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-Mahdi </a:t>
            </a:r>
            <a:r>
              <a:rPr lang="en-US" sz="3000" dirty="0" err="1">
                <a:latin typeface="Gordita Bold" panose="020B0604020202020204" charset="0"/>
                <a:cs typeface="Gordita Bold" panose="020B0604020202020204" charset="0"/>
              </a:rPr>
              <a:t>Alkhamis</a:t>
            </a:r>
            <a:endParaRPr lang="en-US" sz="3000" b="1" u="none" strike="noStrike" dirty="0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539007"/>
            <a:ext cx="7387228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  <a:spcBef>
                <a:spcPct val="0"/>
              </a:spcBef>
            </a:pPr>
            <a:r>
              <a:rPr lang="en-US" sz="2300" b="1" spc="13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The Output: Residual Learning Strategy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388898"/>
            <a:ext cx="10783580" cy="289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Following the DnCNN paradigm, the model 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d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o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e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s 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n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o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t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att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e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mpt to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re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construct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the 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clea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n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i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mag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e 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d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i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rectly.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In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st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ead,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i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t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p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re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d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i</a:t>
            </a: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cts</a:t>
            </a:r>
            <a:r>
              <a:rPr lang="en-US" sz="2300" u="none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the noise map.</a:t>
            </a:r>
          </a:p>
          <a:p>
            <a:pPr algn="l">
              <a:lnSpc>
                <a:spcPts val="2875"/>
              </a:lnSpc>
            </a:pPr>
            <a:endParaRPr lang="en-US" sz="2300" u="none" spc="131">
              <a:solidFill>
                <a:srgbClr val="1C2011"/>
              </a:solidFill>
              <a:latin typeface="Gordita"/>
              <a:ea typeface="Gordita"/>
              <a:cs typeface="Gordita"/>
              <a:sym typeface="Gordita"/>
            </a:endParaRPr>
          </a:p>
          <a:p>
            <a:pPr marL="496571" lvl="1" indent="-248285" algn="l">
              <a:lnSpc>
                <a:spcPts val="2875"/>
              </a:lnSpc>
              <a:buFont typeface="Arial"/>
              <a:buChar char="•"/>
            </a:pPr>
            <a:r>
              <a:rPr lang="en-US" sz="2300" spc="13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Mechanism: The predicted noise is subtracted from the original noisy input.</a:t>
            </a:r>
          </a:p>
          <a:p>
            <a:pPr algn="ctr">
              <a:lnSpc>
                <a:spcPts val="2875"/>
              </a:lnSpc>
            </a:pPr>
            <a:endParaRPr lang="en-US" sz="2300" spc="131">
              <a:solidFill>
                <a:srgbClr val="1C2011"/>
              </a:solidFill>
              <a:latin typeface="Gordita"/>
              <a:ea typeface="Gordita"/>
              <a:cs typeface="Gordita"/>
              <a:sym typeface="Gordita"/>
            </a:endParaRPr>
          </a:p>
          <a:p>
            <a:pPr algn="l">
              <a:lnSpc>
                <a:spcPts val="2875"/>
              </a:lnSpc>
            </a:pPr>
            <a:endParaRPr lang="en-US" sz="2300" spc="131">
              <a:solidFill>
                <a:srgbClr val="1C2011"/>
              </a:solidFill>
              <a:latin typeface="Gordita"/>
              <a:ea typeface="Gordita"/>
              <a:cs typeface="Gordita"/>
              <a:sym typeface="Gordit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597238" y="8043912"/>
            <a:ext cx="13093524" cy="78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sz="25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Advantage: </a:t>
            </a: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It is mathematically easier to "find the noise" than to rebuild the clean image from scratch, leading to faster convergence and better stability.</a:t>
            </a:r>
          </a:p>
        </p:txBody>
      </p:sp>
      <p:sp>
        <p:nvSpPr>
          <p:cNvPr id="19" name="عنصر نائب لرقم الشريحة 18">
            <a:extLst>
              <a:ext uri="{FF2B5EF4-FFF2-40B4-BE49-F238E27FC236}">
                <a16:creationId xmlns:a16="http://schemas.microsoft.com/office/drawing/2014/main" id="{EBF95E0A-B04B-D67D-4D99-A65CE915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991" y="8294008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10</a:t>
            </a:fld>
            <a:endParaRPr 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3075712" y="4642478"/>
            <a:ext cx="11446437" cy="3356457"/>
            <a:chOff x="0" y="0"/>
            <a:chExt cx="3014700" cy="8840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4700" cy="884005"/>
            </a:xfrm>
            <a:custGeom>
              <a:avLst/>
              <a:gdLst/>
              <a:ahLst/>
              <a:cxnLst/>
              <a:rect l="l" t="t" r="r" b="b"/>
              <a:pathLst>
                <a:path w="3014700" h="884005">
                  <a:moveTo>
                    <a:pt x="67636" y="0"/>
                  </a:moveTo>
                  <a:lnTo>
                    <a:pt x="2947064" y="0"/>
                  </a:lnTo>
                  <a:cubicBezTo>
                    <a:pt x="2965002" y="0"/>
                    <a:pt x="2982205" y="7126"/>
                    <a:pt x="2994889" y="19810"/>
                  </a:cubicBezTo>
                  <a:cubicBezTo>
                    <a:pt x="3007574" y="32494"/>
                    <a:pt x="3014700" y="49698"/>
                    <a:pt x="3014700" y="67636"/>
                  </a:cubicBezTo>
                  <a:lnTo>
                    <a:pt x="3014700" y="816369"/>
                  </a:lnTo>
                  <a:cubicBezTo>
                    <a:pt x="3014700" y="834307"/>
                    <a:pt x="3007574" y="851511"/>
                    <a:pt x="2994889" y="864195"/>
                  </a:cubicBezTo>
                  <a:cubicBezTo>
                    <a:pt x="2982205" y="876879"/>
                    <a:pt x="2965002" y="884005"/>
                    <a:pt x="2947064" y="884005"/>
                  </a:cubicBezTo>
                  <a:lnTo>
                    <a:pt x="67636" y="884005"/>
                  </a:lnTo>
                  <a:cubicBezTo>
                    <a:pt x="49698" y="884005"/>
                    <a:pt x="32494" y="876879"/>
                    <a:pt x="19810" y="864195"/>
                  </a:cubicBezTo>
                  <a:cubicBezTo>
                    <a:pt x="7126" y="851511"/>
                    <a:pt x="0" y="834307"/>
                    <a:pt x="0" y="816369"/>
                  </a:cubicBezTo>
                  <a:lnTo>
                    <a:pt x="0" y="67636"/>
                  </a:lnTo>
                  <a:cubicBezTo>
                    <a:pt x="0" y="49698"/>
                    <a:pt x="7126" y="32494"/>
                    <a:pt x="19810" y="19810"/>
                  </a:cubicBezTo>
                  <a:cubicBezTo>
                    <a:pt x="32494" y="7126"/>
                    <a:pt x="49698" y="0"/>
                    <a:pt x="67636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014700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-6372747" y="2398743"/>
            <a:ext cx="11446437" cy="3356457"/>
            <a:chOff x="0" y="0"/>
            <a:chExt cx="3014700" cy="8840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14700" cy="884005"/>
            </a:xfrm>
            <a:custGeom>
              <a:avLst/>
              <a:gdLst/>
              <a:ahLst/>
              <a:cxnLst/>
              <a:rect l="l" t="t" r="r" b="b"/>
              <a:pathLst>
                <a:path w="3014700" h="884005">
                  <a:moveTo>
                    <a:pt x="67636" y="0"/>
                  </a:moveTo>
                  <a:lnTo>
                    <a:pt x="2947064" y="0"/>
                  </a:lnTo>
                  <a:cubicBezTo>
                    <a:pt x="2965002" y="0"/>
                    <a:pt x="2982205" y="7126"/>
                    <a:pt x="2994889" y="19810"/>
                  </a:cubicBezTo>
                  <a:cubicBezTo>
                    <a:pt x="3007574" y="32494"/>
                    <a:pt x="3014700" y="49698"/>
                    <a:pt x="3014700" y="67636"/>
                  </a:cubicBezTo>
                  <a:lnTo>
                    <a:pt x="3014700" y="816369"/>
                  </a:lnTo>
                  <a:cubicBezTo>
                    <a:pt x="3014700" y="834307"/>
                    <a:pt x="3007574" y="851511"/>
                    <a:pt x="2994889" y="864195"/>
                  </a:cubicBezTo>
                  <a:cubicBezTo>
                    <a:pt x="2982205" y="876879"/>
                    <a:pt x="2965002" y="884005"/>
                    <a:pt x="2947064" y="884005"/>
                  </a:cubicBezTo>
                  <a:lnTo>
                    <a:pt x="67636" y="884005"/>
                  </a:lnTo>
                  <a:cubicBezTo>
                    <a:pt x="49698" y="884005"/>
                    <a:pt x="32494" y="876879"/>
                    <a:pt x="19810" y="864195"/>
                  </a:cubicBezTo>
                  <a:cubicBezTo>
                    <a:pt x="7126" y="851511"/>
                    <a:pt x="0" y="834307"/>
                    <a:pt x="0" y="816369"/>
                  </a:cubicBezTo>
                  <a:lnTo>
                    <a:pt x="0" y="67636"/>
                  </a:lnTo>
                  <a:cubicBezTo>
                    <a:pt x="0" y="49698"/>
                    <a:pt x="7126" y="32494"/>
                    <a:pt x="19810" y="19810"/>
                  </a:cubicBezTo>
                  <a:cubicBezTo>
                    <a:pt x="32494" y="7126"/>
                    <a:pt x="49698" y="0"/>
                    <a:pt x="67636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3014700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257319" y="1028700"/>
            <a:ext cx="2453808" cy="162856"/>
          </a:xfrm>
          <a:custGeom>
            <a:avLst/>
            <a:gdLst/>
            <a:ahLst/>
            <a:cxnLst/>
            <a:rect l="l" t="t" r="r" b="b"/>
            <a:pathLst>
              <a:path w="2453808" h="162856">
                <a:moveTo>
                  <a:pt x="0" y="0"/>
                </a:moveTo>
                <a:lnTo>
                  <a:pt x="2453808" y="0"/>
                </a:lnTo>
                <a:lnTo>
                  <a:pt x="2453808" y="162856"/>
                </a:lnTo>
                <a:lnTo>
                  <a:pt x="0" y="162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10350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994499" y="9095444"/>
            <a:ext cx="2453808" cy="162856"/>
          </a:xfrm>
          <a:custGeom>
            <a:avLst/>
            <a:gdLst/>
            <a:ahLst/>
            <a:cxnLst/>
            <a:rect l="l" t="t" r="r" b="b"/>
            <a:pathLst>
              <a:path w="2453808" h="162856">
                <a:moveTo>
                  <a:pt x="0" y="0"/>
                </a:moveTo>
                <a:lnTo>
                  <a:pt x="2453808" y="0"/>
                </a:lnTo>
                <a:lnTo>
                  <a:pt x="2453808" y="162856"/>
                </a:lnTo>
                <a:lnTo>
                  <a:pt x="0" y="162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10350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 rot="-5400000">
            <a:off x="16321555" y="5262856"/>
            <a:ext cx="4231400" cy="2115700"/>
          </a:xfrm>
          <a:custGeom>
            <a:avLst/>
            <a:gdLst/>
            <a:ahLst/>
            <a:cxnLst/>
            <a:rect l="l" t="t" r="r" b="b"/>
            <a:pathLst>
              <a:path w="4231400" h="2115700">
                <a:moveTo>
                  <a:pt x="0" y="0"/>
                </a:moveTo>
                <a:lnTo>
                  <a:pt x="4231400" y="0"/>
                </a:lnTo>
                <a:lnTo>
                  <a:pt x="4231400" y="2115700"/>
                </a:lnTo>
                <a:lnTo>
                  <a:pt x="0" y="211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rot="5400000">
            <a:off x="-2235103" y="930654"/>
            <a:ext cx="4195091" cy="2097545"/>
          </a:xfrm>
          <a:custGeom>
            <a:avLst/>
            <a:gdLst/>
            <a:ahLst/>
            <a:cxnLst/>
            <a:rect l="l" t="t" r="r" b="b"/>
            <a:pathLst>
              <a:path w="4195091" h="2097545">
                <a:moveTo>
                  <a:pt x="0" y="0"/>
                </a:moveTo>
                <a:lnTo>
                  <a:pt x="4195090" y="0"/>
                </a:lnTo>
                <a:lnTo>
                  <a:pt x="4195090" y="2097545"/>
                </a:lnTo>
                <a:lnTo>
                  <a:pt x="0" y="2097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1135444" y="1314598"/>
            <a:ext cx="18168477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1C2011"/>
                </a:solidFill>
                <a:latin typeface="Gordita Bold" panose="020B0604020202020204" charset="0"/>
                <a:ea typeface="Gordita Bold"/>
                <a:cs typeface="Gordita Bold" panose="020B0604020202020204" charset="0"/>
                <a:sym typeface="Gordita Bold"/>
              </a:rPr>
              <a:t>Data Acquisition and Preprocessing</a:t>
            </a:r>
            <a:r>
              <a:rPr lang="en-US" sz="6000" b="1" dirty="0">
                <a:solidFill>
                  <a:srgbClr val="1C2011"/>
                </a:solidFill>
                <a:latin typeface="Gordita Bold" panose="020B0604020202020204" charset="0"/>
                <a:ea typeface="Gordita Bold"/>
                <a:cs typeface="Gordita Bold" panose="020B0604020202020204" charset="0"/>
                <a:sym typeface="Gordita Bold"/>
              </a:rPr>
              <a:t> </a:t>
            </a:r>
            <a:r>
              <a:rPr lang="en-US" sz="3000" b="1" u="none" strike="noStrike" dirty="0">
                <a:solidFill>
                  <a:srgbClr val="1C2011"/>
                </a:solidFill>
                <a:latin typeface="Gordita Bold" panose="020B0604020202020204" charset="0"/>
                <a:ea typeface="Gordita Bold"/>
                <a:cs typeface="Gordita Bold" panose="020B0604020202020204" charset="0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Abdulsamad</a:t>
            </a:r>
            <a:endParaRPr lang="en-US" sz="3000" b="1" u="none" strike="noStrike" dirty="0">
              <a:solidFill>
                <a:srgbClr val="1C2011"/>
              </a:solidFill>
              <a:latin typeface="Gordita Bold" panose="020B0604020202020204" charset="0"/>
              <a:ea typeface="Gordita Bold"/>
              <a:cs typeface="Gordita Bold" panose="020B0604020202020204" charset="0"/>
              <a:sym typeface="Gordita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67881" y="2461747"/>
            <a:ext cx="14696154" cy="651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1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  <a:hlinkClick r:id="rId4" tooltip="https://www.kaggle.com/datasets/balraj98/berkeley-segmentation-dataset-500-bsds500/data?select=ground_truth"/>
              </a:rPr>
              <a:t>Berkeley Segmentation Dataset 500 (BSDS500),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a dataset that consists of 500 natural images, ground-truth human annotations, and benchmarking code. The data is explicitly separated into disjoint train, validation, and test subsets:</a:t>
            </a:r>
          </a:p>
          <a:p>
            <a:pPr marL="474978" lvl="1" indent="-237489" algn="l">
              <a:lnSpc>
                <a:spcPts val="2749"/>
              </a:lnSpc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Training 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dataset size: 200</a:t>
            </a:r>
          </a:p>
          <a:p>
            <a:pPr marL="474978" lvl="1" indent="-237489" algn="l">
              <a:lnSpc>
                <a:spcPts val="2749"/>
              </a:lnSpc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Validation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dataset size: 100</a:t>
            </a:r>
          </a:p>
          <a:p>
            <a:pPr marL="474978" lvl="1" indent="-237489" algn="l">
              <a:lnSpc>
                <a:spcPts val="2749"/>
              </a:lnSpc>
              <a:buFont typeface="Arial"/>
              <a:buChar char="•"/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Test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dataset size: 200</a:t>
            </a:r>
          </a:p>
          <a:p>
            <a:pPr algn="l">
              <a:lnSpc>
                <a:spcPts val="2749"/>
              </a:lnSpc>
            </a:pPr>
            <a:endParaRPr lang="en-US" sz="2199" u="none" strike="noStrike" spc="125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  <a:p>
            <a:pPr algn="l">
              <a:lnSpc>
                <a:spcPts val="2749"/>
              </a:lnSpc>
            </a:pPr>
            <a:r>
              <a:rPr lang="en-US" sz="2199" b="1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  <a:hlinkClick r:id="rId5" tooltip="https://www.kaggle.com/datasets/goutham1208/multi-noises-for-image-denoising?select=dataset"/>
              </a:rPr>
              <a:t>Multi Noises for Image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Denoising</a:t>
            </a:r>
            <a:r>
              <a:rPr lang="en-US" sz="2199" strike="noStrike" spc="125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</a:t>
            </a:r>
            <a:r>
              <a:rPr lang="en-US" sz="2199" spc="125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dataset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that contains 300 high-quality original images and their corresponding synthetically generated noisy variants using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7 common noise types: Gaussian, Speckle, Poisson, Multiplicative, JPEG Compression, Quantization, and Salt &amp; Pepper.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</a:t>
            </a:r>
          </a:p>
          <a:p>
            <a:pPr algn="l">
              <a:lnSpc>
                <a:spcPts val="2749"/>
              </a:lnSpc>
            </a:pPr>
            <a:endParaRPr lang="en-US" sz="2199" u="none" strike="noStrike" spc="125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  <a:p>
            <a:pPr algn="l">
              <a:lnSpc>
                <a:spcPts val="2749"/>
              </a:lnSpc>
            </a:pP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These datasets are chosen to be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trained in our model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for the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first dataset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and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tested on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other types of noise in the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second dataset.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</a:t>
            </a:r>
          </a:p>
          <a:p>
            <a:pPr algn="l">
              <a:lnSpc>
                <a:spcPts val="2749"/>
              </a:lnSpc>
            </a:pPr>
            <a:endParaRPr lang="en-US" sz="2199" u="none" strike="noStrike" spc="125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  <a:p>
            <a:pPr algn="l">
              <a:lnSpc>
                <a:spcPts val="2749"/>
              </a:lnSpc>
            </a:pP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Preprocessing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</a:t>
            </a:r>
          </a:p>
          <a:p>
            <a:pPr algn="l">
              <a:lnSpc>
                <a:spcPts val="2749"/>
              </a:lnSpc>
            </a:pP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includes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normalization 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(scaling pixels to [0,1]) and the synthetic addition of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Gaussian noise </a:t>
            </a:r>
            <a:r>
              <a:rPr lang="en-US" sz="2199" u="none" strike="noStrike" spc="125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using 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the probability density function model for the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first dataset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. </a:t>
            </a:r>
          </a:p>
          <a:p>
            <a:pPr algn="l">
              <a:lnSpc>
                <a:spcPts val="2749"/>
              </a:lnSpc>
            </a:pPr>
            <a:endParaRPr lang="en-US" sz="2199" u="none" strike="noStrike" spc="125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</p:txBody>
      </p:sp>
      <p:sp>
        <p:nvSpPr>
          <p:cNvPr id="20" name="عنصر نائب لرقم الشريحة 19">
            <a:extLst>
              <a:ext uri="{FF2B5EF4-FFF2-40B4-BE49-F238E27FC236}">
                <a16:creationId xmlns:a16="http://schemas.microsoft.com/office/drawing/2014/main" id="{89E263D6-A5CC-642D-0F7A-8A37EC59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5875" y="9617627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11</a:t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687302" y="6673018"/>
            <a:ext cx="2872289" cy="5744579"/>
          </a:xfrm>
          <a:custGeom>
            <a:avLst/>
            <a:gdLst/>
            <a:ahLst/>
            <a:cxnLst/>
            <a:rect l="l" t="t" r="r" b="b"/>
            <a:pathLst>
              <a:path w="2872289" h="5744579">
                <a:moveTo>
                  <a:pt x="0" y="0"/>
                </a:moveTo>
                <a:lnTo>
                  <a:pt x="2872289" y="0"/>
                </a:lnTo>
                <a:lnTo>
                  <a:pt x="2872289" y="5744579"/>
                </a:lnTo>
                <a:lnTo>
                  <a:pt x="0" y="574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120374" y="-1067960"/>
            <a:ext cx="17885244" cy="3356457"/>
            <a:chOff x="0" y="0"/>
            <a:chExt cx="4710517" cy="884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0517" cy="884005"/>
            </a:xfrm>
            <a:custGeom>
              <a:avLst/>
              <a:gdLst/>
              <a:ahLst/>
              <a:cxnLst/>
              <a:rect l="l" t="t" r="r" b="b"/>
              <a:pathLst>
                <a:path w="4710517" h="884005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840719"/>
                  </a:lnTo>
                  <a:cubicBezTo>
                    <a:pt x="4710517" y="852199"/>
                    <a:pt x="4705957" y="863209"/>
                    <a:pt x="4697839" y="871327"/>
                  </a:cubicBezTo>
                  <a:cubicBezTo>
                    <a:pt x="4689721" y="879445"/>
                    <a:pt x="4678711" y="884005"/>
                    <a:pt x="4667231" y="884005"/>
                  </a:cubicBezTo>
                  <a:lnTo>
                    <a:pt x="43287" y="884005"/>
                  </a:lnTo>
                  <a:cubicBezTo>
                    <a:pt x="31806" y="884005"/>
                    <a:pt x="20796" y="879445"/>
                    <a:pt x="12678" y="871327"/>
                  </a:cubicBezTo>
                  <a:cubicBezTo>
                    <a:pt x="4561" y="863209"/>
                    <a:pt x="0" y="852199"/>
                    <a:pt x="0" y="840719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710517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2644429"/>
            <a:ext cx="681927" cy="696733"/>
          </a:xfrm>
          <a:custGeom>
            <a:avLst/>
            <a:gdLst/>
            <a:ahLst/>
            <a:cxnLst/>
            <a:rect l="l" t="t" r="r" b="b"/>
            <a:pathLst>
              <a:path w="681927" h="696733">
                <a:moveTo>
                  <a:pt x="0" y="0"/>
                </a:moveTo>
                <a:lnTo>
                  <a:pt x="681927" y="0"/>
                </a:lnTo>
                <a:lnTo>
                  <a:pt x="681927" y="696733"/>
                </a:lnTo>
                <a:lnTo>
                  <a:pt x="0" y="696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5400000">
            <a:off x="15224483" y="-53542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5" y="0"/>
                </a:lnTo>
                <a:lnTo>
                  <a:pt x="3033255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5400000">
            <a:off x="15742673" y="8627211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4" y="0"/>
                </a:lnTo>
                <a:lnTo>
                  <a:pt x="3033254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2773558" y="2900629"/>
            <a:ext cx="4485742" cy="4485742"/>
          </a:xfrm>
          <a:custGeom>
            <a:avLst/>
            <a:gdLst/>
            <a:ahLst/>
            <a:cxnLst/>
            <a:rect l="l" t="t" r="r" b="b"/>
            <a:pathLst>
              <a:path w="4485742" h="4485742">
                <a:moveTo>
                  <a:pt x="0" y="0"/>
                </a:moveTo>
                <a:lnTo>
                  <a:pt x="4485742" y="0"/>
                </a:lnTo>
                <a:lnTo>
                  <a:pt x="4485742" y="4485742"/>
                </a:lnTo>
                <a:lnTo>
                  <a:pt x="0" y="44857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2490213" y="610268"/>
            <a:ext cx="12664069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Eval</a:t>
            </a: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uation and Analysis</a:t>
            </a:r>
            <a:r>
              <a:rPr lang="en-US" sz="6000" b="1" dirty="0">
                <a:solidFill>
                  <a:srgbClr val="1C2011"/>
                </a:solidFill>
                <a:latin typeface="Gordita Bold" panose="020B0604020202020204" charset="0"/>
                <a:ea typeface="Gordita Bold"/>
                <a:cs typeface="Gordita Bold" panose="020B0604020202020204" charset="0"/>
                <a:sym typeface="Gordita Bold"/>
              </a:rPr>
              <a:t> </a:t>
            </a:r>
            <a:r>
              <a:rPr lang="en-US" sz="3000" b="1" dirty="0">
                <a:solidFill>
                  <a:srgbClr val="1C2011"/>
                </a:solidFill>
                <a:latin typeface="Gordita Bold" panose="020B0604020202020204" charset="0"/>
                <a:ea typeface="Gordita Bold"/>
                <a:cs typeface="Gordita Bold" panose="020B0604020202020204" charset="0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Abdulsamad</a:t>
            </a:r>
            <a:endParaRPr lang="en-US" sz="3000" b="1" u="none" strike="noStrike" dirty="0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79268" y="3331637"/>
            <a:ext cx="9858029" cy="205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U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sing additive white Gaussian noise (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sigma = 25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) (AWGN) for the BSDS500 dataset.</a:t>
            </a:r>
          </a:p>
          <a:p>
            <a:pPr marL="474978" lvl="1" indent="-237489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The model trained for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10 epochs.</a:t>
            </a:r>
          </a:p>
          <a:p>
            <a:pPr marL="474978" lvl="1" indent="-237489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Batch size is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8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.</a:t>
            </a:r>
          </a:p>
          <a:p>
            <a:pPr marL="474978" lvl="1" indent="-237489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Using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Adam 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as the optimizer function.</a:t>
            </a:r>
          </a:p>
          <a:p>
            <a:pPr marL="474978" lvl="1" indent="-237489" algn="l">
              <a:lnSpc>
                <a:spcPts val="274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Using </a:t>
            </a:r>
            <a:r>
              <a:rPr lang="en-US" sz="2199" b="1" u="none" strike="noStrike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Mean Squared Error</a:t>
            </a:r>
            <a:r>
              <a:rPr lang="en-US" sz="2199" u="none" strike="noStrike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(MSE) as loss function.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79268" y="2779483"/>
            <a:ext cx="6574265" cy="40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How the experiments  done?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9268" y="6068393"/>
            <a:ext cx="9858029" cy="171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It is a standard engineering metric used to quantify the quality of reconstruction. It represents the ratio between the maximum possible power of a signal and the power of corrupting noise. Since the relationship is </a:t>
            </a:r>
            <a:r>
              <a:rPr lang="en-US" sz="21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inversely proportional to MSE</a:t>
            </a:r>
            <a:r>
              <a:rPr lang="en-US" sz="219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. We try to increase PSNR, which indicates that the Mean Squared Error is decreasing. 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5382889"/>
            <a:ext cx="681927" cy="696733"/>
          </a:xfrm>
          <a:custGeom>
            <a:avLst/>
            <a:gdLst/>
            <a:ahLst/>
            <a:cxnLst/>
            <a:rect l="l" t="t" r="r" b="b"/>
            <a:pathLst>
              <a:path w="681927" h="696733">
                <a:moveTo>
                  <a:pt x="0" y="0"/>
                </a:moveTo>
                <a:lnTo>
                  <a:pt x="681927" y="0"/>
                </a:lnTo>
                <a:lnTo>
                  <a:pt x="681927" y="696732"/>
                </a:lnTo>
                <a:lnTo>
                  <a:pt x="0" y="696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2079268" y="5517942"/>
            <a:ext cx="6574265" cy="40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PSNR (Peak Signal-to-Noise Ratio)</a:t>
            </a:r>
          </a:p>
        </p:txBody>
      </p:sp>
      <p:sp>
        <p:nvSpPr>
          <p:cNvPr id="22" name="عنصر نائب لرقم الشريحة 21">
            <a:extLst>
              <a:ext uri="{FF2B5EF4-FFF2-40B4-BE49-F238E27FC236}">
                <a16:creationId xmlns:a16="http://schemas.microsoft.com/office/drawing/2014/main" id="{6BF10C1D-ECD3-D806-A5CF-C83D86C1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1482" y="10020300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12</a:t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687302" y="6673018"/>
            <a:ext cx="2872289" cy="5744579"/>
          </a:xfrm>
          <a:custGeom>
            <a:avLst/>
            <a:gdLst/>
            <a:ahLst/>
            <a:cxnLst/>
            <a:rect l="l" t="t" r="r" b="b"/>
            <a:pathLst>
              <a:path w="2872289" h="5744579">
                <a:moveTo>
                  <a:pt x="0" y="0"/>
                </a:moveTo>
                <a:lnTo>
                  <a:pt x="2872289" y="0"/>
                </a:lnTo>
                <a:lnTo>
                  <a:pt x="2872289" y="5744579"/>
                </a:lnTo>
                <a:lnTo>
                  <a:pt x="0" y="574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120374" y="-1067960"/>
            <a:ext cx="17885244" cy="3356457"/>
            <a:chOff x="0" y="0"/>
            <a:chExt cx="4710517" cy="884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0517" cy="884005"/>
            </a:xfrm>
            <a:custGeom>
              <a:avLst/>
              <a:gdLst/>
              <a:ahLst/>
              <a:cxnLst/>
              <a:rect l="l" t="t" r="r" b="b"/>
              <a:pathLst>
                <a:path w="4710517" h="884005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840719"/>
                  </a:lnTo>
                  <a:cubicBezTo>
                    <a:pt x="4710517" y="852199"/>
                    <a:pt x="4705957" y="863209"/>
                    <a:pt x="4697839" y="871327"/>
                  </a:cubicBezTo>
                  <a:cubicBezTo>
                    <a:pt x="4689721" y="879445"/>
                    <a:pt x="4678711" y="884005"/>
                    <a:pt x="4667231" y="884005"/>
                  </a:cubicBezTo>
                  <a:lnTo>
                    <a:pt x="43287" y="884005"/>
                  </a:lnTo>
                  <a:cubicBezTo>
                    <a:pt x="31806" y="884005"/>
                    <a:pt x="20796" y="879445"/>
                    <a:pt x="12678" y="871327"/>
                  </a:cubicBezTo>
                  <a:cubicBezTo>
                    <a:pt x="4561" y="863209"/>
                    <a:pt x="0" y="852199"/>
                    <a:pt x="0" y="840719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710517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87736" y="2942777"/>
            <a:ext cx="681927" cy="696733"/>
          </a:xfrm>
          <a:custGeom>
            <a:avLst/>
            <a:gdLst/>
            <a:ahLst/>
            <a:cxnLst/>
            <a:rect l="l" t="t" r="r" b="b"/>
            <a:pathLst>
              <a:path w="681927" h="696733">
                <a:moveTo>
                  <a:pt x="0" y="0"/>
                </a:moveTo>
                <a:lnTo>
                  <a:pt x="681928" y="0"/>
                </a:lnTo>
                <a:lnTo>
                  <a:pt x="681928" y="696732"/>
                </a:lnTo>
                <a:lnTo>
                  <a:pt x="0" y="696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5400000">
            <a:off x="15224483" y="-53542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5" y="0"/>
                </a:lnTo>
                <a:lnTo>
                  <a:pt x="3033255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5400000">
            <a:off x="15742673" y="8627211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4" y="0"/>
                </a:lnTo>
                <a:lnTo>
                  <a:pt x="3033254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graphicFrame>
        <p:nvGraphicFramePr>
          <p:cNvPr id="9" name="Object 9"/>
          <p:cNvGraphicFramePr/>
          <p:nvPr/>
        </p:nvGraphicFramePr>
        <p:xfrm>
          <a:off x="11281121" y="2412393"/>
          <a:ext cx="5657850" cy="691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7035800" imgH="8293100" progId="Excel.Sheet.12">
                  <p:embed/>
                </p:oleObj>
              </mc:Choice>
              <mc:Fallback>
                <p:oleObj name="Worksheet" r:id="rId5" imgW="7035800" imgH="8293100" progId="Excel.Sheet.12">
                  <p:embed/>
                  <p:pic>
                    <p:nvPicPr>
                      <p:cNvPr id="9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81121" y="2412393"/>
                        <a:ext cx="5657850" cy="691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0"/>
          <p:cNvSpPr/>
          <p:nvPr/>
        </p:nvSpPr>
        <p:spPr>
          <a:xfrm>
            <a:off x="1738305" y="3883248"/>
            <a:ext cx="7988340" cy="4030591"/>
          </a:xfrm>
          <a:custGeom>
            <a:avLst/>
            <a:gdLst/>
            <a:ahLst/>
            <a:cxnLst/>
            <a:rect l="l" t="t" r="r" b="b"/>
            <a:pathLst>
              <a:path w="7988340" h="4030591">
                <a:moveTo>
                  <a:pt x="0" y="0"/>
                </a:moveTo>
                <a:lnTo>
                  <a:pt x="7988340" y="0"/>
                </a:lnTo>
                <a:lnTo>
                  <a:pt x="7988340" y="4030591"/>
                </a:lnTo>
                <a:lnTo>
                  <a:pt x="0" y="40305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1738305" y="2875312"/>
            <a:ext cx="7736734" cy="812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The Output of our training loss and validation loss of the model:</a:t>
            </a:r>
          </a:p>
        </p:txBody>
      </p:sp>
      <p:sp>
        <p:nvSpPr>
          <p:cNvPr id="19" name="عنصر نائب لرقم الشريحة 18">
            <a:extLst>
              <a:ext uri="{FF2B5EF4-FFF2-40B4-BE49-F238E27FC236}">
                <a16:creationId xmlns:a16="http://schemas.microsoft.com/office/drawing/2014/main" id="{CB3EDDAB-38F7-98FC-C7DA-55995948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3600" y="10020300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13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DE2748A-490A-118E-8AAA-D59A0B5AF762}"/>
              </a:ext>
            </a:extLst>
          </p:cNvPr>
          <p:cNvSpPr txBox="1"/>
          <p:nvPr/>
        </p:nvSpPr>
        <p:spPr>
          <a:xfrm>
            <a:off x="2490213" y="610268"/>
            <a:ext cx="12664069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Eval</a:t>
            </a: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uation and Analysis</a:t>
            </a:r>
            <a:r>
              <a:rPr lang="en-US" sz="6000" b="1" dirty="0">
                <a:solidFill>
                  <a:srgbClr val="1C2011"/>
                </a:solidFill>
                <a:latin typeface="Gordita Bold" panose="020B0604020202020204" charset="0"/>
                <a:ea typeface="Gordita Bold"/>
                <a:cs typeface="Gordita Bold" panose="020B0604020202020204" charset="0"/>
                <a:sym typeface="Gordita Bold"/>
              </a:rPr>
              <a:t> </a:t>
            </a:r>
            <a:r>
              <a:rPr lang="en-US" sz="3000" b="1" dirty="0">
                <a:solidFill>
                  <a:srgbClr val="1C2011"/>
                </a:solidFill>
                <a:latin typeface="Gordita Bold" panose="020B0604020202020204" charset="0"/>
                <a:ea typeface="Gordita Bold"/>
                <a:cs typeface="Gordita Bold" panose="020B0604020202020204" charset="0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Abdulsamad</a:t>
            </a:r>
            <a:endParaRPr lang="en-US" sz="3000" b="1" u="none" strike="noStrike" dirty="0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687302" y="6673018"/>
            <a:ext cx="2872289" cy="5744579"/>
          </a:xfrm>
          <a:custGeom>
            <a:avLst/>
            <a:gdLst/>
            <a:ahLst/>
            <a:cxnLst/>
            <a:rect l="l" t="t" r="r" b="b"/>
            <a:pathLst>
              <a:path w="2872289" h="5744579">
                <a:moveTo>
                  <a:pt x="0" y="0"/>
                </a:moveTo>
                <a:lnTo>
                  <a:pt x="2872289" y="0"/>
                </a:lnTo>
                <a:lnTo>
                  <a:pt x="2872289" y="5744579"/>
                </a:lnTo>
                <a:lnTo>
                  <a:pt x="0" y="574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120374" y="-1067960"/>
            <a:ext cx="17885244" cy="3356457"/>
            <a:chOff x="0" y="0"/>
            <a:chExt cx="4710517" cy="884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0517" cy="884005"/>
            </a:xfrm>
            <a:custGeom>
              <a:avLst/>
              <a:gdLst/>
              <a:ahLst/>
              <a:cxnLst/>
              <a:rect l="l" t="t" r="r" b="b"/>
              <a:pathLst>
                <a:path w="4710517" h="884005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840719"/>
                  </a:lnTo>
                  <a:cubicBezTo>
                    <a:pt x="4710517" y="852199"/>
                    <a:pt x="4705957" y="863209"/>
                    <a:pt x="4697839" y="871327"/>
                  </a:cubicBezTo>
                  <a:cubicBezTo>
                    <a:pt x="4689721" y="879445"/>
                    <a:pt x="4678711" y="884005"/>
                    <a:pt x="4667231" y="884005"/>
                  </a:cubicBezTo>
                  <a:lnTo>
                    <a:pt x="43287" y="884005"/>
                  </a:lnTo>
                  <a:cubicBezTo>
                    <a:pt x="31806" y="884005"/>
                    <a:pt x="20796" y="879445"/>
                    <a:pt x="12678" y="871327"/>
                  </a:cubicBezTo>
                  <a:cubicBezTo>
                    <a:pt x="4561" y="863209"/>
                    <a:pt x="0" y="852199"/>
                    <a:pt x="0" y="840719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710517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87736" y="2740259"/>
            <a:ext cx="681927" cy="696733"/>
          </a:xfrm>
          <a:custGeom>
            <a:avLst/>
            <a:gdLst/>
            <a:ahLst/>
            <a:cxnLst/>
            <a:rect l="l" t="t" r="r" b="b"/>
            <a:pathLst>
              <a:path w="681927" h="696733">
                <a:moveTo>
                  <a:pt x="0" y="0"/>
                </a:moveTo>
                <a:lnTo>
                  <a:pt x="681928" y="0"/>
                </a:lnTo>
                <a:lnTo>
                  <a:pt x="681928" y="696733"/>
                </a:lnTo>
                <a:lnTo>
                  <a:pt x="0" y="696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5400000">
            <a:off x="15224483" y="-53542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5" y="0"/>
                </a:lnTo>
                <a:lnTo>
                  <a:pt x="3033255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5400000">
            <a:off x="15742673" y="8627211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4" y="0"/>
                </a:lnTo>
                <a:lnTo>
                  <a:pt x="3033254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8290441" y="2740259"/>
            <a:ext cx="8653314" cy="5840987"/>
          </a:xfrm>
          <a:custGeom>
            <a:avLst/>
            <a:gdLst/>
            <a:ahLst/>
            <a:cxnLst/>
            <a:rect l="l" t="t" r="r" b="b"/>
            <a:pathLst>
              <a:path w="8653314" h="5840987">
                <a:moveTo>
                  <a:pt x="0" y="0"/>
                </a:moveTo>
                <a:lnTo>
                  <a:pt x="8653315" y="0"/>
                </a:lnTo>
                <a:lnTo>
                  <a:pt x="8653315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aphicFrame>
        <p:nvGraphicFramePr>
          <p:cNvPr id="10" name="Object 10"/>
          <p:cNvGraphicFramePr/>
          <p:nvPr/>
        </p:nvGraphicFramePr>
        <p:xfrm>
          <a:off x="1652006" y="3495750"/>
          <a:ext cx="565785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781800" imgH="5524500" progId="Excel.Sheet.12">
                  <p:embed/>
                </p:oleObj>
              </mc:Choice>
              <mc:Fallback>
                <p:oleObj name="Worksheet" r:id="rId6" imgW="6781800" imgH="5524500" progId="Excel.Sheet.12">
                  <p:embed/>
                  <p:pic>
                    <p:nvPicPr>
                      <p:cNvPr id="10" name="Object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52006" y="3495750"/>
                        <a:ext cx="5657850" cy="440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738305" y="2875312"/>
            <a:ext cx="6574265" cy="40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Visualize two samples:</a:t>
            </a:r>
          </a:p>
        </p:txBody>
      </p:sp>
      <p:sp>
        <p:nvSpPr>
          <p:cNvPr id="19" name="عنصر نائب لرقم الشريحة 18">
            <a:extLst>
              <a:ext uri="{FF2B5EF4-FFF2-40B4-BE49-F238E27FC236}">
                <a16:creationId xmlns:a16="http://schemas.microsoft.com/office/drawing/2014/main" id="{F52CF84A-CCA6-BF7E-CC32-82E5D033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3600" y="10020300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14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0CB6484-F879-7A62-F605-0D6DD46283D0}"/>
              </a:ext>
            </a:extLst>
          </p:cNvPr>
          <p:cNvSpPr txBox="1"/>
          <p:nvPr/>
        </p:nvSpPr>
        <p:spPr>
          <a:xfrm>
            <a:off x="2490213" y="574103"/>
            <a:ext cx="12664069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Eval</a:t>
            </a: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uation and Analysis</a:t>
            </a:r>
            <a:r>
              <a:rPr lang="en-US" sz="6000" b="1" dirty="0">
                <a:solidFill>
                  <a:srgbClr val="1C2011"/>
                </a:solidFill>
                <a:latin typeface="Gordita Bold" panose="020B0604020202020204" charset="0"/>
                <a:ea typeface="Gordita Bold"/>
                <a:cs typeface="Gordita Bold" panose="020B0604020202020204" charset="0"/>
                <a:sym typeface="Gordita Bold"/>
              </a:rPr>
              <a:t> </a:t>
            </a:r>
            <a:r>
              <a:rPr lang="en-US" sz="3000" b="1" dirty="0">
                <a:solidFill>
                  <a:srgbClr val="1C2011"/>
                </a:solidFill>
                <a:latin typeface="Gordita Bold" panose="020B0604020202020204" charset="0"/>
                <a:ea typeface="Gordita Bold"/>
                <a:cs typeface="Gordita Bold" panose="020B0604020202020204" charset="0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Abdulsamad</a:t>
            </a:r>
            <a:endParaRPr lang="en-US" sz="3000" b="1" u="none" strike="noStrike" dirty="0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40945" y="6679155"/>
            <a:ext cx="2872289" cy="5744579"/>
          </a:xfrm>
          <a:custGeom>
            <a:avLst/>
            <a:gdLst/>
            <a:ahLst/>
            <a:cxnLst/>
            <a:rect l="l" t="t" r="r" b="b"/>
            <a:pathLst>
              <a:path w="2872289" h="5744579">
                <a:moveTo>
                  <a:pt x="0" y="0"/>
                </a:moveTo>
                <a:lnTo>
                  <a:pt x="2872290" y="0"/>
                </a:lnTo>
                <a:lnTo>
                  <a:pt x="2872290" y="5744579"/>
                </a:lnTo>
                <a:lnTo>
                  <a:pt x="0" y="574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120374" y="-1067960"/>
            <a:ext cx="17885244" cy="3356457"/>
            <a:chOff x="0" y="0"/>
            <a:chExt cx="4710517" cy="884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0517" cy="884005"/>
            </a:xfrm>
            <a:custGeom>
              <a:avLst/>
              <a:gdLst/>
              <a:ahLst/>
              <a:cxnLst/>
              <a:rect l="l" t="t" r="r" b="b"/>
              <a:pathLst>
                <a:path w="4710517" h="884005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840719"/>
                  </a:lnTo>
                  <a:cubicBezTo>
                    <a:pt x="4710517" y="852199"/>
                    <a:pt x="4705957" y="863209"/>
                    <a:pt x="4697839" y="871327"/>
                  </a:cubicBezTo>
                  <a:cubicBezTo>
                    <a:pt x="4689721" y="879445"/>
                    <a:pt x="4678711" y="884005"/>
                    <a:pt x="4667231" y="884005"/>
                  </a:cubicBezTo>
                  <a:lnTo>
                    <a:pt x="43287" y="884005"/>
                  </a:lnTo>
                  <a:cubicBezTo>
                    <a:pt x="31806" y="884005"/>
                    <a:pt x="20796" y="879445"/>
                    <a:pt x="12678" y="871327"/>
                  </a:cubicBezTo>
                  <a:cubicBezTo>
                    <a:pt x="4561" y="863209"/>
                    <a:pt x="0" y="852199"/>
                    <a:pt x="0" y="840719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710517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87736" y="2605014"/>
            <a:ext cx="681927" cy="696733"/>
          </a:xfrm>
          <a:custGeom>
            <a:avLst/>
            <a:gdLst/>
            <a:ahLst/>
            <a:cxnLst/>
            <a:rect l="l" t="t" r="r" b="b"/>
            <a:pathLst>
              <a:path w="681927" h="696733">
                <a:moveTo>
                  <a:pt x="0" y="0"/>
                </a:moveTo>
                <a:lnTo>
                  <a:pt x="681928" y="0"/>
                </a:lnTo>
                <a:lnTo>
                  <a:pt x="681928" y="696732"/>
                </a:lnTo>
                <a:lnTo>
                  <a:pt x="0" y="696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5400000">
            <a:off x="15224483" y="-53542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5" y="0"/>
                </a:lnTo>
                <a:lnTo>
                  <a:pt x="3033255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5400000">
            <a:off x="15742673" y="8627211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4" y="0"/>
                </a:lnTo>
                <a:lnTo>
                  <a:pt x="3033254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6456843" y="3618262"/>
            <a:ext cx="10802457" cy="3807866"/>
          </a:xfrm>
          <a:custGeom>
            <a:avLst/>
            <a:gdLst/>
            <a:ahLst/>
            <a:cxnLst/>
            <a:rect l="l" t="t" r="r" b="b"/>
            <a:pathLst>
              <a:path w="10802457" h="3807866">
                <a:moveTo>
                  <a:pt x="0" y="0"/>
                </a:moveTo>
                <a:lnTo>
                  <a:pt x="10802457" y="0"/>
                </a:lnTo>
                <a:lnTo>
                  <a:pt x="10802457" y="3807867"/>
                </a:lnTo>
                <a:lnTo>
                  <a:pt x="0" y="3807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2262581" y="574103"/>
            <a:ext cx="13119333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Eval</a:t>
            </a: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uation and Analysis </a:t>
            </a:r>
            <a:r>
              <a:rPr lang="en-US" sz="3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Omar Al-</a:t>
            </a:r>
            <a:r>
              <a:rPr lang="en-US" sz="3000" dirty="0" err="1">
                <a:latin typeface="Gordita Bold" panose="020B0604020202020204" charset="0"/>
                <a:cs typeface="Gordita Bold" panose="020B0604020202020204" charset="0"/>
              </a:rPr>
              <a:t>Subgh</a:t>
            </a:r>
            <a:endParaRPr lang="en-US" sz="3000" b="1" u="none" strike="noStrike" dirty="0">
              <a:solidFill>
                <a:srgbClr val="1C2011"/>
              </a:solidFill>
              <a:latin typeface="Gordita Bold" panose="020B0604020202020204" charset="0"/>
              <a:ea typeface="Gordita Bold"/>
              <a:cs typeface="Gordita Bold" panose="020B0604020202020204" charset="0"/>
              <a:sym typeface="Gordit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70153" y="2740067"/>
            <a:ext cx="6574265" cy="40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Visualize test samples: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424959"/>
            <a:ext cx="5428143" cy="418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453" spc="13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O</a:t>
            </a:r>
            <a:r>
              <a:rPr lang="en-US" sz="2453" u="none" strike="noStrike" spc="13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ur model has a positive effect on both:</a:t>
            </a:r>
          </a:p>
          <a:p>
            <a:pPr marL="529615" lvl="1" indent="-264807" algn="l">
              <a:lnSpc>
                <a:spcPts val="3066"/>
              </a:lnSpc>
              <a:buFont typeface="Arial"/>
              <a:buChar char="•"/>
            </a:pPr>
            <a:r>
              <a:rPr lang="en-US" sz="2453" b="1" u="none" strike="noStrike" spc="13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Salt &amp; pepper</a:t>
            </a:r>
          </a:p>
          <a:p>
            <a:pPr marL="529615" lvl="1" indent="-264807" algn="l">
              <a:lnSpc>
                <a:spcPts val="3066"/>
              </a:lnSpc>
              <a:buFont typeface="Arial"/>
              <a:buChar char="•"/>
            </a:pPr>
            <a:r>
              <a:rPr lang="en-US" sz="2453" b="1" u="none" strike="noStrike" spc="13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Multiplicative noises</a:t>
            </a:r>
            <a:r>
              <a:rPr lang="en-US" sz="2453" u="none" strike="noStrike" spc="13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</a:t>
            </a:r>
          </a:p>
          <a:p>
            <a:pPr algn="l">
              <a:lnSpc>
                <a:spcPts val="3066"/>
              </a:lnSpc>
            </a:pPr>
            <a:r>
              <a:rPr lang="en-US" sz="2453" u="none" strike="noStrike" spc="13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that are </a:t>
            </a:r>
            <a:r>
              <a:rPr lang="en-US" sz="2453" b="1" u="none" strike="noStrike" spc="13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more than 3 dB in PSNR.</a:t>
            </a:r>
          </a:p>
          <a:p>
            <a:pPr algn="l">
              <a:lnSpc>
                <a:spcPts val="3066"/>
              </a:lnSpc>
            </a:pPr>
            <a:r>
              <a:rPr lang="en-US" sz="2453" u="none" strike="noStrike" spc="13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But</a:t>
            </a:r>
            <a:r>
              <a:rPr lang="en-US" sz="2453" u="none" strike="noStrike" spc="13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when focusing on the image of visualization, </a:t>
            </a:r>
            <a:r>
              <a:rPr lang="en-US" sz="2453" b="1" u="none" strike="noStrike" spc="13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we easily see that no meaningful change happened.</a:t>
            </a:r>
          </a:p>
          <a:p>
            <a:pPr algn="l">
              <a:lnSpc>
                <a:spcPts val="3066"/>
              </a:lnSpc>
            </a:pPr>
            <a:endParaRPr lang="en-US" sz="2453" b="1" u="none" strike="noStrike" spc="139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  <p:sp>
        <p:nvSpPr>
          <p:cNvPr id="19" name="عنصر نائب لرقم الشريحة 18">
            <a:extLst>
              <a:ext uri="{FF2B5EF4-FFF2-40B4-BE49-F238E27FC236}">
                <a16:creationId xmlns:a16="http://schemas.microsoft.com/office/drawing/2014/main" id="{6D17AD7B-940A-7BA5-851F-D644CD63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71800" y="10020300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15</a:t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25391" y="7212555"/>
            <a:ext cx="2872289" cy="5744579"/>
          </a:xfrm>
          <a:custGeom>
            <a:avLst/>
            <a:gdLst/>
            <a:ahLst/>
            <a:cxnLst/>
            <a:rect l="l" t="t" r="r" b="b"/>
            <a:pathLst>
              <a:path w="2872289" h="5744579">
                <a:moveTo>
                  <a:pt x="0" y="0"/>
                </a:moveTo>
                <a:lnTo>
                  <a:pt x="2872290" y="0"/>
                </a:lnTo>
                <a:lnTo>
                  <a:pt x="2872290" y="5744579"/>
                </a:lnTo>
                <a:lnTo>
                  <a:pt x="0" y="574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120374" y="-1067960"/>
            <a:ext cx="17885244" cy="3356457"/>
            <a:chOff x="0" y="0"/>
            <a:chExt cx="4710517" cy="884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0517" cy="884005"/>
            </a:xfrm>
            <a:custGeom>
              <a:avLst/>
              <a:gdLst/>
              <a:ahLst/>
              <a:cxnLst/>
              <a:rect l="l" t="t" r="r" b="b"/>
              <a:pathLst>
                <a:path w="4710517" h="884005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840719"/>
                  </a:lnTo>
                  <a:cubicBezTo>
                    <a:pt x="4710517" y="852199"/>
                    <a:pt x="4705957" y="863209"/>
                    <a:pt x="4697839" y="871327"/>
                  </a:cubicBezTo>
                  <a:cubicBezTo>
                    <a:pt x="4689721" y="879445"/>
                    <a:pt x="4678711" y="884005"/>
                    <a:pt x="4667231" y="884005"/>
                  </a:cubicBezTo>
                  <a:lnTo>
                    <a:pt x="43287" y="884005"/>
                  </a:lnTo>
                  <a:cubicBezTo>
                    <a:pt x="31806" y="884005"/>
                    <a:pt x="20796" y="879445"/>
                    <a:pt x="12678" y="871327"/>
                  </a:cubicBezTo>
                  <a:cubicBezTo>
                    <a:pt x="4561" y="863209"/>
                    <a:pt x="0" y="852199"/>
                    <a:pt x="0" y="840719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710517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56352" y="2391893"/>
            <a:ext cx="681927" cy="696733"/>
          </a:xfrm>
          <a:custGeom>
            <a:avLst/>
            <a:gdLst/>
            <a:ahLst/>
            <a:cxnLst/>
            <a:rect l="l" t="t" r="r" b="b"/>
            <a:pathLst>
              <a:path w="681927" h="696733">
                <a:moveTo>
                  <a:pt x="0" y="0"/>
                </a:moveTo>
                <a:lnTo>
                  <a:pt x="681928" y="0"/>
                </a:lnTo>
                <a:lnTo>
                  <a:pt x="681928" y="696732"/>
                </a:lnTo>
                <a:lnTo>
                  <a:pt x="0" y="696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5400000">
            <a:off x="15224483" y="-53542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5" y="0"/>
                </a:lnTo>
                <a:lnTo>
                  <a:pt x="3033255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5400000">
            <a:off x="15742673" y="8627211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4" y="0"/>
                </a:lnTo>
                <a:lnTo>
                  <a:pt x="3033254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5322364" y="2740259"/>
            <a:ext cx="5633854" cy="6356958"/>
          </a:xfrm>
          <a:custGeom>
            <a:avLst/>
            <a:gdLst/>
            <a:ahLst/>
            <a:cxnLst/>
            <a:rect l="l" t="t" r="r" b="b"/>
            <a:pathLst>
              <a:path w="5633854" h="6356958">
                <a:moveTo>
                  <a:pt x="0" y="0"/>
                </a:moveTo>
                <a:lnTo>
                  <a:pt x="5633855" y="0"/>
                </a:lnTo>
                <a:lnTo>
                  <a:pt x="563385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1156244" y="2740259"/>
            <a:ext cx="5586177" cy="6356958"/>
          </a:xfrm>
          <a:custGeom>
            <a:avLst/>
            <a:gdLst/>
            <a:ahLst/>
            <a:cxnLst/>
            <a:rect l="l" t="t" r="r" b="b"/>
            <a:pathLst>
              <a:path w="5586177" h="6356958">
                <a:moveTo>
                  <a:pt x="0" y="0"/>
                </a:moveTo>
                <a:lnTo>
                  <a:pt x="5586177" y="0"/>
                </a:lnTo>
                <a:lnTo>
                  <a:pt x="558617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1738305" y="2486787"/>
            <a:ext cx="6574265" cy="40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Visualize test samples: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9025" y="3990071"/>
            <a:ext cx="3925023" cy="228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3"/>
              </a:lnSpc>
            </a:pPr>
            <a:r>
              <a:rPr lang="en-US" sz="2442" b="1" spc="13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More</a:t>
            </a:r>
            <a:r>
              <a:rPr lang="en-US" sz="2442" b="1" u="none" strike="noStrike" spc="139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 experiments</a:t>
            </a:r>
            <a:r>
              <a:rPr lang="en-US" sz="2442" u="none" strike="noStrike" spc="13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with several types of noises to see if our model could improve the noisy image and be much clearer. </a:t>
            </a:r>
          </a:p>
        </p:txBody>
      </p:sp>
      <p:sp>
        <p:nvSpPr>
          <p:cNvPr id="20" name="عنصر نائب لرقم الشريحة 19">
            <a:extLst>
              <a:ext uri="{FF2B5EF4-FFF2-40B4-BE49-F238E27FC236}">
                <a16:creationId xmlns:a16="http://schemas.microsoft.com/office/drawing/2014/main" id="{C8097CFC-7181-766A-666F-C5A6B7CD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90448" y="10020300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16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0F94FC85-C528-E4D1-1FE9-F70971114371}"/>
              </a:ext>
            </a:extLst>
          </p:cNvPr>
          <p:cNvSpPr txBox="1"/>
          <p:nvPr/>
        </p:nvSpPr>
        <p:spPr>
          <a:xfrm>
            <a:off x="2262581" y="574103"/>
            <a:ext cx="13119333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Eval</a:t>
            </a: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uation and Analysis </a:t>
            </a:r>
            <a:r>
              <a:rPr lang="en-US" sz="3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Omar Al-</a:t>
            </a:r>
            <a:r>
              <a:rPr lang="en-US" sz="3000" dirty="0" err="1">
                <a:latin typeface="Gordita Bold" panose="020B0604020202020204" charset="0"/>
                <a:cs typeface="Gordita Bold" panose="020B0604020202020204" charset="0"/>
              </a:rPr>
              <a:t>Subgh</a:t>
            </a:r>
            <a:endParaRPr lang="en-US" sz="3000" b="1" u="none" strike="noStrike" dirty="0">
              <a:solidFill>
                <a:srgbClr val="1C2011"/>
              </a:solidFill>
              <a:latin typeface="Gordita Bold" panose="020B0604020202020204" charset="0"/>
              <a:ea typeface="Gordita Bold"/>
              <a:cs typeface="Gordita Bold" panose="020B0604020202020204" charset="0"/>
              <a:sym typeface="Gordita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79257" y="1932324"/>
            <a:ext cx="2176124" cy="2167963"/>
          </a:xfrm>
          <a:custGeom>
            <a:avLst/>
            <a:gdLst/>
            <a:ahLst/>
            <a:cxnLst/>
            <a:rect l="l" t="t" r="r" b="b"/>
            <a:pathLst>
              <a:path w="2176124" h="2167963">
                <a:moveTo>
                  <a:pt x="0" y="0"/>
                </a:moveTo>
                <a:lnTo>
                  <a:pt x="2176123" y="0"/>
                </a:lnTo>
                <a:lnTo>
                  <a:pt x="2176123" y="2167964"/>
                </a:lnTo>
                <a:lnTo>
                  <a:pt x="0" y="2167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961823" y="1932324"/>
            <a:ext cx="2176124" cy="2167963"/>
          </a:xfrm>
          <a:custGeom>
            <a:avLst/>
            <a:gdLst/>
            <a:ahLst/>
            <a:cxnLst/>
            <a:rect l="l" t="t" r="r" b="b"/>
            <a:pathLst>
              <a:path w="2176124" h="2167963">
                <a:moveTo>
                  <a:pt x="0" y="0"/>
                </a:moveTo>
                <a:lnTo>
                  <a:pt x="2176124" y="0"/>
                </a:lnTo>
                <a:lnTo>
                  <a:pt x="2176124" y="2167964"/>
                </a:lnTo>
                <a:lnTo>
                  <a:pt x="0" y="2167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8196898"/>
            <a:ext cx="615154" cy="1975650"/>
          </a:xfrm>
          <a:custGeom>
            <a:avLst/>
            <a:gdLst/>
            <a:ahLst/>
            <a:cxnLst/>
            <a:rect l="l" t="t" r="r" b="b"/>
            <a:pathLst>
              <a:path w="615154" h="1975650">
                <a:moveTo>
                  <a:pt x="0" y="0"/>
                </a:moveTo>
                <a:lnTo>
                  <a:pt x="615154" y="0"/>
                </a:lnTo>
                <a:lnTo>
                  <a:pt x="615154" y="1975650"/>
                </a:lnTo>
                <a:lnTo>
                  <a:pt x="0" y="197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289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7672846" y="8196898"/>
            <a:ext cx="615154" cy="1975650"/>
          </a:xfrm>
          <a:custGeom>
            <a:avLst/>
            <a:gdLst/>
            <a:ahLst/>
            <a:cxnLst/>
            <a:rect l="l" t="t" r="r" b="b"/>
            <a:pathLst>
              <a:path w="615154" h="1975650">
                <a:moveTo>
                  <a:pt x="0" y="0"/>
                </a:moveTo>
                <a:lnTo>
                  <a:pt x="615154" y="0"/>
                </a:lnTo>
                <a:lnTo>
                  <a:pt x="615154" y="1975650"/>
                </a:lnTo>
                <a:lnTo>
                  <a:pt x="0" y="197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289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211670" y="9184723"/>
            <a:ext cx="15864660" cy="3037418"/>
            <a:chOff x="0" y="0"/>
            <a:chExt cx="4178347" cy="7999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78347" cy="799978"/>
            </a:xfrm>
            <a:custGeom>
              <a:avLst/>
              <a:gdLst/>
              <a:ahLst/>
              <a:cxnLst/>
              <a:rect l="l" t="t" r="r" b="b"/>
              <a:pathLst>
                <a:path w="4178347" h="799978">
                  <a:moveTo>
                    <a:pt x="48800" y="0"/>
                  </a:moveTo>
                  <a:lnTo>
                    <a:pt x="4129547" y="0"/>
                  </a:lnTo>
                  <a:cubicBezTo>
                    <a:pt x="4156499" y="0"/>
                    <a:pt x="4178347" y="21848"/>
                    <a:pt x="4178347" y="48800"/>
                  </a:cubicBezTo>
                  <a:lnTo>
                    <a:pt x="4178347" y="751179"/>
                  </a:lnTo>
                  <a:cubicBezTo>
                    <a:pt x="4178347" y="778130"/>
                    <a:pt x="4156499" y="799978"/>
                    <a:pt x="4129547" y="799978"/>
                  </a:cubicBezTo>
                  <a:lnTo>
                    <a:pt x="48800" y="799978"/>
                  </a:lnTo>
                  <a:cubicBezTo>
                    <a:pt x="21848" y="799978"/>
                    <a:pt x="0" y="778130"/>
                    <a:pt x="0" y="751179"/>
                  </a:cubicBezTo>
                  <a:lnTo>
                    <a:pt x="0" y="48800"/>
                  </a:lnTo>
                  <a:cubicBezTo>
                    <a:pt x="0" y="21848"/>
                    <a:pt x="21848" y="0"/>
                    <a:pt x="48800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178347" cy="819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47750"/>
            <a:ext cx="16230600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708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Conclusion </a:t>
            </a:r>
            <a:r>
              <a:rPr lang="en-US" sz="30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-</a:t>
            </a:r>
            <a:r>
              <a:rPr lang="en-US" sz="3000" dirty="0">
                <a:latin typeface="Gordita Bold" panose="020B0604020202020204" charset="0"/>
                <a:cs typeface="Gordita Bold" panose="020B0604020202020204" charset="0"/>
              </a:rPr>
              <a:t>Omar Al-</a:t>
            </a:r>
            <a:r>
              <a:rPr lang="en-US" sz="3000" dirty="0" err="1">
                <a:latin typeface="Gordita Bold" panose="020B0604020202020204" charset="0"/>
                <a:cs typeface="Gordita Bold" panose="020B0604020202020204" charset="0"/>
              </a:rPr>
              <a:t>Subgh</a:t>
            </a:r>
            <a:endParaRPr lang="en-US" sz="3000" b="1" u="none" strike="noStrike" dirty="0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44566" y="2800723"/>
            <a:ext cx="7499434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59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Sum up of our research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44566" y="3423195"/>
            <a:ext cx="15004426" cy="545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We introduced the LAR–U-Net model, which uses the residual U-Net combined with the Convolutional Block Attention Module (CBAM)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inserted into each encoder layer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and MSE as the loss function that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makes our model designed specifically for grayscale image Gaussian denoising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. </a:t>
            </a:r>
          </a:p>
          <a:p>
            <a:pPr algn="l">
              <a:lnSpc>
                <a:spcPts val="3629"/>
              </a:lnSpc>
            </a:pPr>
            <a:endParaRPr lang="en-US" sz="2199" spc="125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  <a:p>
            <a:pPr algn="l">
              <a:lnSpc>
                <a:spcPts val="3629"/>
              </a:lnSpc>
            </a:pP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We achieve an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average of PSNR (19.921 dB)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for the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test dataset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with an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exceedance of (+7 dB) on some samples.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Our lightweight model with this simple architecture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achieves quite a low average of PSNR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that leads us to continue searching for new improvements to our solution.</a:t>
            </a:r>
          </a:p>
          <a:p>
            <a:pPr algn="l">
              <a:lnSpc>
                <a:spcPts val="3629"/>
              </a:lnSpc>
            </a:pPr>
            <a:endParaRPr lang="en-US" sz="2199" spc="125">
              <a:solidFill>
                <a:srgbClr val="1C2011"/>
              </a:solidFill>
              <a:latin typeface="Gordita Light"/>
              <a:ea typeface="Gordita Light"/>
              <a:cs typeface="Gordita Light"/>
              <a:sym typeface="Gordita Light"/>
            </a:endParaRPr>
          </a:p>
          <a:p>
            <a:pPr algn="l">
              <a:lnSpc>
                <a:spcPts val="3629"/>
              </a:lnSpc>
            </a:pP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The good results from LAR–U-Net prove that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lightweight attention tools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work well for fixing random image noise.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In the future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, we will try </a:t>
            </a:r>
            <a:r>
              <a:rPr lang="en-US" sz="2199" spc="125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new training methods</a:t>
            </a:r>
            <a:r>
              <a:rPr lang="en-US" sz="2199" spc="125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 and </a:t>
            </a:r>
            <a:r>
              <a:rPr lang="en-US" sz="2199" b="1" spc="125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add more layers to keep image details from getting blurry.</a:t>
            </a:r>
          </a:p>
        </p:txBody>
      </p:sp>
      <p:sp>
        <p:nvSpPr>
          <p:cNvPr id="18" name="عنصر نائب لرقم الشريحة 17">
            <a:extLst>
              <a:ext uri="{FF2B5EF4-FFF2-40B4-BE49-F238E27FC236}">
                <a16:creationId xmlns:a16="http://schemas.microsoft.com/office/drawing/2014/main" id="{5D2C54CF-4B4E-CB6A-BA7F-C3266C68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870" y="9662519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17</a:t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020352" y="-333263"/>
            <a:ext cx="10832300" cy="11068566"/>
            <a:chOff x="0" y="0"/>
            <a:chExt cx="2852951" cy="29151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2951" cy="2915178"/>
            </a:xfrm>
            <a:custGeom>
              <a:avLst/>
              <a:gdLst/>
              <a:ahLst/>
              <a:cxnLst/>
              <a:rect l="l" t="t" r="r" b="b"/>
              <a:pathLst>
                <a:path w="2852951" h="2915178">
                  <a:moveTo>
                    <a:pt x="71471" y="0"/>
                  </a:moveTo>
                  <a:lnTo>
                    <a:pt x="2781481" y="0"/>
                  </a:lnTo>
                  <a:cubicBezTo>
                    <a:pt x="2820953" y="0"/>
                    <a:pt x="2852951" y="31999"/>
                    <a:pt x="2852951" y="71471"/>
                  </a:cubicBezTo>
                  <a:lnTo>
                    <a:pt x="2852951" y="2843707"/>
                  </a:lnTo>
                  <a:cubicBezTo>
                    <a:pt x="2852951" y="2862662"/>
                    <a:pt x="2845421" y="2880841"/>
                    <a:pt x="2832018" y="2894245"/>
                  </a:cubicBezTo>
                  <a:cubicBezTo>
                    <a:pt x="2818615" y="2907648"/>
                    <a:pt x="2800436" y="2915178"/>
                    <a:pt x="2781481" y="2915178"/>
                  </a:cubicBezTo>
                  <a:lnTo>
                    <a:pt x="71471" y="2915178"/>
                  </a:lnTo>
                  <a:cubicBezTo>
                    <a:pt x="52515" y="2915178"/>
                    <a:pt x="34337" y="2907648"/>
                    <a:pt x="20933" y="2894245"/>
                  </a:cubicBezTo>
                  <a:cubicBezTo>
                    <a:pt x="7530" y="2880841"/>
                    <a:pt x="0" y="2862662"/>
                    <a:pt x="0" y="2843707"/>
                  </a:cubicBezTo>
                  <a:lnTo>
                    <a:pt x="0" y="71471"/>
                  </a:lnTo>
                  <a:cubicBezTo>
                    <a:pt x="0" y="52515"/>
                    <a:pt x="7530" y="34337"/>
                    <a:pt x="20933" y="20933"/>
                  </a:cubicBezTo>
                  <a:cubicBezTo>
                    <a:pt x="34337" y="7530"/>
                    <a:pt x="52515" y="0"/>
                    <a:pt x="71471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852951" cy="293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69856" y="8711382"/>
            <a:ext cx="3486148" cy="3481791"/>
          </a:xfrm>
          <a:custGeom>
            <a:avLst/>
            <a:gdLst/>
            <a:ahLst/>
            <a:cxnLst/>
            <a:rect l="l" t="t" r="r" b="b"/>
            <a:pathLst>
              <a:path w="3486148" h="3481791">
                <a:moveTo>
                  <a:pt x="0" y="0"/>
                </a:moveTo>
                <a:lnTo>
                  <a:pt x="3486148" y="0"/>
                </a:lnTo>
                <a:lnTo>
                  <a:pt x="3486148" y="3481791"/>
                </a:lnTo>
                <a:lnTo>
                  <a:pt x="0" y="348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-1823359" y="-1857785"/>
            <a:ext cx="3486148" cy="3481791"/>
          </a:xfrm>
          <a:custGeom>
            <a:avLst/>
            <a:gdLst/>
            <a:ahLst/>
            <a:cxnLst/>
            <a:rect l="l" t="t" r="r" b="b"/>
            <a:pathLst>
              <a:path w="3486148" h="3481791">
                <a:moveTo>
                  <a:pt x="0" y="0"/>
                </a:moveTo>
                <a:lnTo>
                  <a:pt x="3486148" y="0"/>
                </a:lnTo>
                <a:lnTo>
                  <a:pt x="3486148" y="3481791"/>
                </a:lnTo>
                <a:lnTo>
                  <a:pt x="0" y="348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0546416" y="5201020"/>
            <a:ext cx="711605" cy="711605"/>
          </a:xfrm>
          <a:custGeom>
            <a:avLst/>
            <a:gdLst/>
            <a:ahLst/>
            <a:cxnLst/>
            <a:rect l="l" t="t" r="r" b="b"/>
            <a:pathLst>
              <a:path w="711605" h="711605">
                <a:moveTo>
                  <a:pt x="0" y="0"/>
                </a:moveTo>
                <a:lnTo>
                  <a:pt x="711605" y="0"/>
                </a:lnTo>
                <a:lnTo>
                  <a:pt x="711605" y="711605"/>
                </a:lnTo>
                <a:lnTo>
                  <a:pt x="0" y="711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0546416" y="171879"/>
            <a:ext cx="1509818" cy="856821"/>
          </a:xfrm>
          <a:custGeom>
            <a:avLst/>
            <a:gdLst/>
            <a:ahLst/>
            <a:cxnLst/>
            <a:rect l="l" t="t" r="r" b="b"/>
            <a:pathLst>
              <a:path w="1509818" h="856821">
                <a:moveTo>
                  <a:pt x="0" y="0"/>
                </a:moveTo>
                <a:lnTo>
                  <a:pt x="1509818" y="0"/>
                </a:lnTo>
                <a:lnTo>
                  <a:pt x="1509818" y="856821"/>
                </a:lnTo>
                <a:lnTo>
                  <a:pt x="0" y="856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273791" y="9858589"/>
            <a:ext cx="1509818" cy="856821"/>
          </a:xfrm>
          <a:custGeom>
            <a:avLst/>
            <a:gdLst/>
            <a:ahLst/>
            <a:cxnLst/>
            <a:rect l="l" t="t" r="r" b="b"/>
            <a:pathLst>
              <a:path w="1509818" h="856821">
                <a:moveTo>
                  <a:pt x="0" y="0"/>
                </a:moveTo>
                <a:lnTo>
                  <a:pt x="1509818" y="0"/>
                </a:lnTo>
                <a:lnTo>
                  <a:pt x="1509818" y="856822"/>
                </a:lnTo>
                <a:lnTo>
                  <a:pt x="0" y="85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2138698" y="2583199"/>
            <a:ext cx="5120602" cy="5120602"/>
          </a:xfrm>
          <a:custGeom>
            <a:avLst/>
            <a:gdLst/>
            <a:ahLst/>
            <a:cxnLst/>
            <a:rect l="l" t="t" r="r" b="b"/>
            <a:pathLst>
              <a:path w="5120602" h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2396037" y="4497388"/>
            <a:ext cx="6747963" cy="125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US" sz="8000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Q&amp;A Session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09412" y="5893575"/>
            <a:ext cx="5521213" cy="39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526" spc="144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Thank You for Listening!</a:t>
            </a:r>
          </a:p>
        </p:txBody>
      </p:sp>
      <p:sp>
        <p:nvSpPr>
          <p:cNvPr id="19" name="عنصر نائب لرقم الشريحة 18">
            <a:extLst>
              <a:ext uri="{FF2B5EF4-FFF2-40B4-BE49-F238E27FC236}">
                <a16:creationId xmlns:a16="http://schemas.microsoft.com/office/drawing/2014/main" id="{8012478E-8481-FAE7-0E71-AE605783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809" y="9493464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z="1400" b="1" smtClean="0">
                <a:solidFill>
                  <a:schemeClr val="tx1"/>
                </a:solidFill>
              </a:rPr>
              <a:pPr algn="l"/>
              <a:t>18</a:t>
            </a:fld>
            <a:endParaRPr 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1645</Words>
  <Application>Microsoft Office PowerPoint</Application>
  <PresentationFormat>Custom</PresentationFormat>
  <Paragraphs>130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Gordita Light</vt:lpstr>
      <vt:lpstr>Gordita</vt:lpstr>
      <vt:lpstr>Arial</vt:lpstr>
      <vt:lpstr>Gordita Bold</vt:lpstr>
      <vt:lpstr>Aptos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LAR-U-Net model for Image Denoising </dc:title>
  <cp:lastModifiedBy>مهدي حسين الخميس</cp:lastModifiedBy>
  <cp:revision>2</cp:revision>
  <dcterms:created xsi:type="dcterms:W3CDTF">2006-08-16T00:00:00Z</dcterms:created>
  <dcterms:modified xsi:type="dcterms:W3CDTF">2026-06-04T14:00:51Z</dcterms:modified>
  <dc:identifier>DAHJ0TlmVD8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96578f-6ae1-40cd-93dd-1a3b7a6ede66_Enabled">
    <vt:lpwstr>true</vt:lpwstr>
  </property>
  <property fmtid="{D5CDD505-2E9C-101B-9397-08002B2CF9AE}" pid="3" name="MSIP_Label_b196578f-6ae1-40cd-93dd-1a3b7a6ede66_SetDate">
    <vt:lpwstr>2026-05-19T15:39:20Z</vt:lpwstr>
  </property>
  <property fmtid="{D5CDD505-2E9C-101B-9397-08002B2CF9AE}" pid="4" name="MSIP_Label_b196578f-6ae1-40cd-93dd-1a3b7a6ede66_Method">
    <vt:lpwstr>Standard</vt:lpwstr>
  </property>
  <property fmtid="{D5CDD505-2E9C-101B-9397-08002B2CF9AE}" pid="5" name="MSIP_Label_b196578f-6ae1-40cd-93dd-1a3b7a6ede66_Name">
    <vt:lpwstr>Public - عام</vt:lpwstr>
  </property>
  <property fmtid="{D5CDD505-2E9C-101B-9397-08002B2CF9AE}" pid="6" name="MSIP_Label_b196578f-6ae1-40cd-93dd-1a3b7a6ede66_SiteId">
    <vt:lpwstr>2c86bbfc-8d04-41ff-a83a-942f075e0f60</vt:lpwstr>
  </property>
  <property fmtid="{D5CDD505-2E9C-101B-9397-08002B2CF9AE}" pid="7" name="MSIP_Label_b196578f-6ae1-40cd-93dd-1a3b7a6ede66_ActionId">
    <vt:lpwstr>72c09573-beca-4e48-96ff-a2579f10f864</vt:lpwstr>
  </property>
  <property fmtid="{D5CDD505-2E9C-101B-9397-08002B2CF9AE}" pid="8" name="MSIP_Label_b196578f-6ae1-40cd-93dd-1a3b7a6ede66_ContentBits">
    <vt:lpwstr>0</vt:lpwstr>
  </property>
  <property fmtid="{D5CDD505-2E9C-101B-9397-08002B2CF9AE}" pid="9" name="MSIP_Label_b196578f-6ae1-40cd-93dd-1a3b7a6ede66_Tag">
    <vt:lpwstr>10, 3, 0, 1</vt:lpwstr>
  </property>
</Properties>
</file>